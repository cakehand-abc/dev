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9144000"/>
  <p:embeddedFontLst>
    <p:embeddedFont>
      <p:font typeface="Inter Medium" panose="02000503000000020004"/>
      <p:regular r:id="rId23"/>
    </p:embeddedFont>
    <p:embeddedFont>
      <p:font typeface="Inter SemiBold" panose="02000503000000020004"/>
      <p:bold r:id="rId24"/>
    </p:embeddedFont>
    <p:embeddedFont>
      <p:font typeface="Inter" panose="02000503000000020004"/>
      <p:regular r:id="rId25"/>
      <p:bold r:id="rId2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6" Type="http://schemas.openxmlformats.org/officeDocument/2006/relationships/font" Target="fonts/font4.fntdata"/><Relationship Id="rId25" Type="http://schemas.openxmlformats.org/officeDocument/2006/relationships/font" Target="fonts/font3.fntdata"/><Relationship Id="rId24" Type="http://schemas.openxmlformats.org/officeDocument/2006/relationships/font" Target="fonts/font2.fntdata"/><Relationship Id="rId23" Type="http://schemas.openxmlformats.org/officeDocument/2006/relationships/font" Target="fonts/font1.fntdata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通过项数</c:f>
              <c:strCache>
                <c:ptCount val="1"/>
                <c:pt idx="0">
                  <c:v>通过项数</c:v>
                </c:pt>
              </c:strCache>
            </c:strRef>
          </c:tx>
          <c:spPr>
            <a:solidFill>
              <a:srgbClr val="5EC4FF"/>
            </a:solidFill>
          </c:spPr>
          <c:invertIfNegative val="0"/>
          <c:dLbls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'Chart Data'!$A$2:$A$4</c:f>
              <c:strCache>
                <c:ptCount val="3"/>
                <c:pt idx="0">
                  <c:v>Maven</c:v>
                </c:pt>
                <c:pt idx="1">
                  <c:v>HTTP</c:v>
                </c:pt>
                <c:pt idx="2">
                  <c:v>页面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28</c:v>
                </c:pt>
                <c:pt idx="1">
                  <c:v>21</c:v>
                </c:pt>
                <c:pt idx="2">
                  <c:v>16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66666"/>
                </a:solidFill>
                <a:latin typeface="Inter" panose="02000503000000020004"/>
                <a:ea typeface="Inter" panose="02000503000000020004"/>
                <a:cs typeface="Inter" panose="02000503000000020004"/>
              </a:defRPr>
            </a:pPr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30"/>
          <c:min val="0"/>
        </c:scaling>
        <c:delete val="0"/>
        <c:axPos val="l"/>
        <c:title>
          <c:tx>
            <c:rich>
              <a:bodyPr rot="-5400000" spcFirstLastPara="0" vertOverflow="ellipsis" vert="horz" wrap="square" anchor="ctr" anchorCtr="1"/>
              <a:lstStyle/>
              <a:p>
                <a:pPr>
                  <a:defRPr lang="zh-CN"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>
                    <a:latin typeface="Inter" panose="02000503000000020004"/>
                    <a:ea typeface="Inter" panose="02000503000000020004"/>
                    <a:cs typeface="Inter" panose="02000503000000020004"/>
                  </a:rPr>
                  <a:t>通过项数</a:t>
                </a:r>
                <a:endParaRPr>
                  <a:latin typeface="Inter" panose="02000503000000020004"/>
                  <a:ea typeface="Inter" panose="02000503000000020004"/>
                  <a:cs typeface="Inter" panose="02000503000000020004"/>
                </a:endParaRPr>
              </a:p>
            </c:rich>
          </c:tx>
          <c:layout/>
          <c:overlay val="0"/>
        </c:title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66666"/>
                </a:solidFill>
                <a:latin typeface="Inter" panose="02000503000000020004"/>
                <a:ea typeface="Inter" panose="02000503000000020004"/>
                <a:cs typeface="Inter" panose="02000503000000020004"/>
              </a:defRPr>
            </a:pPr>
          </a:p>
        </c:txPr>
        <c:crossAx val="48650112"/>
        <c:crosses val="autoZero"/>
        <c:crossBetween val="between"/>
      </c:valAx>
      <c:spPr>
        <a:solidFill>
          <a:srgbClr val="FFFFFF"/>
        </a:solidFill>
      </c:spPr>
    </c:plotArea>
    <c:plotVisOnly val="1"/>
    <c:dispBlanksAs val="gap"/>
    <c:showDLblsOverMax val="0"/>
    <c:extLst>
      <c:ext uri="{0b15fc19-7d7d-44ad-8c2d-2c3a37ce22c3}">
        <chartProps xmlns="https://web.wps.cn/et/2018/main" chartId="{774e4cc0-7034-4c80-97d8-3c412aa585ce}"/>
      </c:ext>
    </c:extLst>
  </c:chart>
  <c:spPr>
    <a:solidFill>
      <a:srgbClr val="FFFFFF"/>
    </a:solidFill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P95 毫秒</c:f>
              <c:strCache>
                <c:ptCount val="1"/>
                <c:pt idx="0">
                  <c:v>P95 毫秒</c:v>
                </c:pt>
              </c:strCache>
            </c:strRef>
          </c:tx>
          <c:spPr>
            <a:solidFill>
              <a:srgbClr val="5EC4FF"/>
            </a:solidFill>
          </c:spPr>
          <c:invertIfNegative val="0"/>
          <c:dLbls>
            <c:numFmt formatCode="General" sourceLinked="1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'Chart Data'!$A$2:$A$5</c:f>
              <c:strCache>
                <c:ptCount val="4"/>
                <c:pt idx="0">
                  <c:v>健康明细</c:v>
                </c:pt>
                <c:pt idx="1">
                  <c:v>健康统计</c:v>
                </c:pt>
                <c:pt idx="2">
                  <c:v>首页</c:v>
                </c:pt>
                <c:pt idx="3">
                  <c:v>设备分布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363.27</c:v>
                </c:pt>
                <c:pt idx="1">
                  <c:v>386.37</c:v>
                </c:pt>
                <c:pt idx="2">
                  <c:v>1104.8</c:v>
                </c:pt>
                <c:pt idx="3">
                  <c:v>744.57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66666"/>
                </a:solidFill>
                <a:latin typeface="Inter" panose="02000503000000020004"/>
                <a:ea typeface="Inter" panose="02000503000000020004"/>
                <a:cs typeface="Inter" panose="02000503000000020004"/>
              </a:defRPr>
            </a:pPr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2000"/>
          <c:min val="0"/>
        </c:scaling>
        <c:delete val="0"/>
        <c:axPos val="l"/>
        <c:title>
          <c:tx>
            <c:rich>
              <a:bodyPr rot="-5400000" spcFirstLastPara="0" vertOverflow="ellipsis" vert="horz" wrap="square" anchor="ctr" anchorCtr="1"/>
              <a:lstStyle/>
              <a:p>
                <a:pPr>
                  <a:defRPr lang="zh-CN"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>
                    <a:latin typeface="Inter" panose="02000503000000020004"/>
                    <a:ea typeface="Inter" panose="02000503000000020004"/>
                    <a:cs typeface="Inter" panose="02000503000000020004"/>
                  </a:rPr>
                  <a:t>P95 毫秒</a:t>
                </a:r>
                <a:endParaRPr>
                  <a:latin typeface="Inter" panose="02000503000000020004"/>
                  <a:ea typeface="Inter" panose="02000503000000020004"/>
                  <a:cs typeface="Inter" panose="02000503000000020004"/>
                </a:endParaRPr>
              </a:p>
            </c:rich>
          </c:tx>
          <c:layout/>
          <c:overlay val="0"/>
        </c:title>
        <c:numFmt formatCode="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66666"/>
                </a:solidFill>
                <a:latin typeface="Inter" panose="02000503000000020004"/>
                <a:ea typeface="Inter" panose="02000503000000020004"/>
                <a:cs typeface="Inter" panose="02000503000000020004"/>
              </a:defRPr>
            </a:pPr>
          </a:p>
        </c:txPr>
        <c:crossAx val="48650112"/>
        <c:crosses val="autoZero"/>
        <c:crossBetween val="between"/>
      </c:valAx>
      <c:spPr>
        <a:solidFill>
          <a:srgbClr val="FFFFFF"/>
        </a:solidFill>
      </c:spPr>
    </c:plotArea>
    <c:plotVisOnly val="1"/>
    <c:dispBlanksAs val="gap"/>
    <c:showDLblsOverMax val="0"/>
    <c:extLst>
      <c:ext uri="{0b15fc19-7d7d-44ad-8c2d-2c3a37ce22c3}">
        <chartProps xmlns="https://web.wps.cn/et/2018/main" chartId="{7b084454-25b6-4902-8d32-117dcdbaf5f4}"/>
      </c:ext>
    </c:extLst>
  </c:chart>
  <c:spPr>
    <a:solidFill>
      <a:srgbClr val="FFFFFF"/>
    </a:solidFill>
  </c:spPr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项目全称为智慧医养大数据公共服务平台大数据决策分析系统。V1.1 增加数据模拟、批量轨迹、受限删除和通用设备 GPS 接入。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来源：本项目源代码与已确认的需求。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需求来自用户提供的医养结合示范项目背景。本项目不宣称获得示范认定。十项验收功能由原八项功能加数据模拟、通用 GPS/心跳接入组成。真实厂商协议、道路地图与临床诊断不属于课程版。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实现依据：pom.xml、frontend/package.json、frontend/src、src/main/java、StatisticsMapper.xml。Element Plus 2.14.5 在数据模拟页按需使用；ECharts 6 不是项目必选约束。Spring Boot 固定 3.5.16，Java 编译目标 17。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字段及索引的权威来源：database/01-schema.sql；详细字典见 02 数据库设计说明书。V1.0 已有库升级到 V1.1 时使用 03-device-ingest-upgrade.sql 增加两张表。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SecurityConfig、AuthController、AccountPrincipal、CareService、DeviceAccessService。前端隐藏入口只改善操作体验，权限由服务端判断。设备接口不使用 Cookie，通过 HTTPS 和 X-Device-Key 认证。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项目运行截图，虚构演示数据。人口数据按当前在册档案统计，不是历史快照。人口页面见 03-population.png。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项目运行截图。所有健康阈值仅为教学参数，不作为临床诊断或治疗依据。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依据 StatisticsMapper.xml followupWhere/followupColumns 和 CareService.complete。统计使用 [start,end)，取消时间与完成时间按截止时刻判断。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项目实际截图。WGS84，圆形半径 50～5000 米。离线画布没有道路底图。设备在线由心跳时间决定。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V1.1 项目实际截图，虚构演示数据。难点在于批量事务、轨迹时间顺序、绑定历史归属和围栏状态的一致处理。数据模拟入口只在 demo 环境对管理员开放。真实设备使用独立密钥调用定位与心跳接口。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数据来源：docs/evidence/maven-tests.json、http-smoke-v11.json、v11-http-qa.json、v11-browser-qa.json、mysql-v11-schema.json，2026-09-08。三类计数是不同测试集合，不相加作为唯一需求覆盖数。JDK 17 和 IDEA 内置 JUnit 未实测。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来源 docs/evidence/performance.json。2026-09-08，i7-13650HX，Windows 11，Zulu 25.0.1，MySQL 8.0.46。各端点样本数 662/665/670/667，P95 363.27/386.37/1104.8/744.57 ms。默认近 30 天，无地区筛选，分页 20。只读负载，不代表并发写入；新增数据已清理。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周虹宏 202417020210；钟毓林 202417020128；胡吉涵 202417020202；李治宏 202417020205。当前功能不需要独立 Agent 工程师；新增自然语言问答等明确需求后再评估岗位。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依据 scripts/build.ps1、scripts/start.ps1、database/03-device-ingest-upgrade.sql 和 11 项目部署环境说明书。Windows 重新打包前应停止运行中的同一 JAR。已识别本机 IDEA 2024.3.4，但尚未记录在该 IDE 内右键运行 JUnit 的结果。当前仅本地部署，公网 HTTPS 与恢复演练未执行。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项目感受：完整交付不止是页面和接口，还需要需求口径、数据库约束、测试证据、部署文档与团队协作保持一致。V1.1 已实现数据模拟、批量轨迹、受限删除和通用 GPS 接口。当前边界：虚构数据、离线坐标、单单位部署。交付代码、SQL、10 份 Word、1 份 PPT。人工验收签收仍需团队按实际填写。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3700" y="1041400"/>
            <a:ext cx="7493000" cy="2491490"/>
          </a:xfrm>
        </p:spPr>
        <p:txBody>
          <a:bodyPr anchor="b"/>
          <a:lstStyle>
            <a:lvl1pPr algn="l">
              <a:buNone/>
              <a:defRPr sz="6000" b="1" i="0">
                <a:solidFill>
                  <a:schemeClr val="accent1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3700" y="4356100"/>
            <a:ext cx="5537200" cy="1638300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/>
      <p:sp>
        <p:nvSpPr>
          <p:cNvPr id="8" name="Text Placeholder 2"/>
          <p:cNvSpPr>
            <a:spLocks noGrp="1"/>
          </p:cNvSpPr>
          <p:nvPr>
            <p:ph idx="1"/>
          </p:nvPr>
        </p:nvSpPr>
        <p:spPr>
          <a:xfrm>
            <a:off x="393700" y="2032000"/>
            <a:ext cx="11404600" cy="3962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9" name="Footer Placeholder 4"/>
          <p:cNvSpPr>
            <a:spLocks noGrp="1"/>
          </p:cNvSpPr>
          <p:nvPr>
            <p:ph type="ftr" idx="3"/>
          </p:nvPr>
        </p:nvSpPr>
        <p:spPr>
          <a:xfrm>
            <a:off x="393700" y="6279952"/>
            <a:ext cx="3568700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endParaRPr sz="1100"/>
          </a:p>
        </p:txBody>
      </p:sp>
      <p:sp>
        <p:nvSpPr>
          <p:cNvPr id="10" name="Slide Number Placeholder 5"/>
          <p:cNvSpPr>
            <a:spLocks noGrp="1"/>
          </p:cNvSpPr>
          <p:nvPr>
            <p:ph type="sldNum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>
            <a:fld id="{8574A810-7A8E-054F-9F6B-09E9C694ECF9}" type="slidenum">
              <a:rPr/>
            </a:fld>
            <a:endParaRPr sz="110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/>
          <a:p>
            <a:r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/>
      <p:sp>
        <p:nvSpPr>
          <p:cNvPr id="9" name="Text Placeholder 2"/>
          <p:cNvSpPr>
            <a:spLocks noGrp="1"/>
          </p:cNvSpPr>
          <p:nvPr>
            <p:ph idx="1"/>
          </p:nvPr>
        </p:nvSpPr>
        <p:spPr>
          <a:xfrm>
            <a:off x="393700" y="2032000"/>
            <a:ext cx="5537200" cy="3962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10" name="Footer Placeholder 4"/>
          <p:cNvSpPr>
            <a:spLocks noGrp="1"/>
          </p:cNvSpPr>
          <p:nvPr>
            <p:ph type="ftr" idx="3"/>
          </p:nvPr>
        </p:nvSpPr>
        <p:spPr>
          <a:xfrm>
            <a:off x="393700" y="6279952"/>
            <a:ext cx="3568700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endParaRPr sz="110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>
            <a:fld id="{8574A810-7A8E-054F-9F6B-09E9C694ECF9}" type="slidenum">
              <a:rPr/>
            </a:fld>
            <a:endParaRPr sz="1100"/>
          </a:p>
        </p:txBody>
      </p:sp>
      <p:sp>
        <p:nvSpPr>
          <p:cNvPr id="12" name="Text Placeholder 2"/>
          <p:cNvSpPr>
            <a:spLocks noGrp="1"/>
          </p:cNvSpPr>
          <p:nvPr>
            <p:ph idx="10"/>
          </p:nvPr>
        </p:nvSpPr>
        <p:spPr>
          <a:xfrm>
            <a:off x="6256618" y="2032000"/>
            <a:ext cx="5537200" cy="3962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/>
          <a:p>
            <a:r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/>
      <p:sp>
        <p:nvSpPr>
          <p:cNvPr id="11" name="Text Placeholder 2"/>
          <p:cNvSpPr>
            <a:spLocks noGrp="1"/>
          </p:cNvSpPr>
          <p:nvPr>
            <p:ph idx="1"/>
          </p:nvPr>
        </p:nvSpPr>
        <p:spPr>
          <a:xfrm>
            <a:off x="393700" y="2032000"/>
            <a:ext cx="3568700" cy="3962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12" name="Footer Placeholder 4"/>
          <p:cNvSpPr>
            <a:spLocks noGrp="1"/>
          </p:cNvSpPr>
          <p:nvPr>
            <p:ph type="ftr" idx="3"/>
          </p:nvPr>
        </p:nvSpPr>
        <p:spPr>
          <a:xfrm>
            <a:off x="393700" y="6279952"/>
            <a:ext cx="3568700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endParaRPr sz="1100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>
            <a:fld id="{8574A810-7A8E-054F-9F6B-09E9C694ECF9}" type="slidenum">
              <a:rPr/>
            </a:fld>
            <a:endParaRPr sz="1100"/>
          </a:p>
        </p:txBody>
      </p:sp>
      <p:sp>
        <p:nvSpPr>
          <p:cNvPr id="14" name="Text Placeholder 2"/>
          <p:cNvSpPr>
            <a:spLocks noGrp="1"/>
          </p:cNvSpPr>
          <p:nvPr>
            <p:ph idx="10"/>
          </p:nvPr>
        </p:nvSpPr>
        <p:spPr>
          <a:xfrm>
            <a:off x="4318000" y="2032000"/>
            <a:ext cx="3568700" cy="3962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15" name="Text Placeholder 2"/>
          <p:cNvSpPr>
            <a:spLocks noGrp="1"/>
          </p:cNvSpPr>
          <p:nvPr>
            <p:ph idx="11"/>
          </p:nvPr>
        </p:nvSpPr>
        <p:spPr>
          <a:xfrm>
            <a:off x="8232273" y="2032000"/>
            <a:ext cx="3568700" cy="3962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/>
          <a:p>
            <a:r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">
    <p:spTree>
      <p:nvGrpSpPr>
        <p:cNvPr id="1" name=""/>
        <p:cNvGrpSpPr/>
        <p:nvPr/>
      </p:nvGrpSpPr>
      <p:grpSpPr/>
      <p:sp>
        <p:nvSpPr>
          <p:cNvPr id="11" name="Text Placeholder 2"/>
          <p:cNvSpPr>
            <a:spLocks noGrp="1"/>
          </p:cNvSpPr>
          <p:nvPr>
            <p:ph idx="1" hasCustomPrompt="1"/>
          </p:nvPr>
        </p:nvSpPr>
        <p:spPr>
          <a:xfrm>
            <a:off x="393700" y="4826000"/>
            <a:ext cx="2595934" cy="1168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>
            <a:pPr lvl="0">
              <a:buNone/>
            </a:pPr>
            <a:r>
              <a:t>Click to edit Master</a:t>
            </a:r>
          </a:p>
        </p:txBody>
      </p:sp>
      <p:sp>
        <p:nvSpPr>
          <p:cNvPr id="12" name="Footer Placeholder 4"/>
          <p:cNvSpPr>
            <a:spLocks noGrp="1"/>
          </p:cNvSpPr>
          <p:nvPr>
            <p:ph type="ftr" idx="3"/>
          </p:nvPr>
        </p:nvSpPr>
        <p:spPr>
          <a:xfrm>
            <a:off x="393700" y="6279952"/>
            <a:ext cx="3568700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endParaRPr sz="1100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idx="4"/>
          </p:nvPr>
        </p:nvSpPr>
        <p:spPr>
          <a:xfrm>
            <a:off x="11279332" y="6279952"/>
            <a:ext cx="518968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>
            <a:fld id="{8574A810-7A8E-054F-9F6B-09E9C694ECF9}" type="slidenum">
              <a:rPr/>
            </a:fld>
            <a:endParaRPr sz="110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2" hasCustomPrompt="1"/>
          </p:nvPr>
        </p:nvSpPr>
        <p:spPr>
          <a:xfrm>
            <a:off x="3334966" y="4826000"/>
            <a:ext cx="2595934" cy="1168400"/>
          </a:xfrm>
        </p:spPr>
        <p:txBody>
          <a:bodyPr/>
          <a:lstStyle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>
            <a:pPr lvl="0">
              <a:buNone/>
            </a:pPr>
            <a:r>
              <a:t>Click to edit Master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idx="13" hasCustomPrompt="1"/>
          </p:nvPr>
        </p:nvSpPr>
        <p:spPr>
          <a:xfrm>
            <a:off x="6264413" y="4826000"/>
            <a:ext cx="2595934" cy="1168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>
            <a:pPr lvl="0">
              <a:buNone/>
            </a:pPr>
            <a:r>
              <a:t>Click to edit Master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idx="14" hasCustomPrompt="1"/>
          </p:nvPr>
        </p:nvSpPr>
        <p:spPr>
          <a:xfrm>
            <a:off x="9205679" y="4826000"/>
            <a:ext cx="2595934" cy="1168400"/>
          </a:xfrm>
        </p:spPr>
        <p:txBody>
          <a:bodyPr/>
          <a:lstStyle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>
            <a:pPr lvl="0">
              <a:buNone/>
            </a:pPr>
            <a:r>
              <a:t>Click to edit Master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/>
      <p:sp>
        <p:nvSpPr>
          <p:cNvPr id="8" name="Footer Placeholder 4"/>
          <p:cNvSpPr>
            <a:spLocks noGrp="1"/>
          </p:cNvSpPr>
          <p:nvPr>
            <p:ph type="ftr" idx="3"/>
          </p:nvPr>
        </p:nvSpPr>
        <p:spPr>
          <a:xfrm>
            <a:off x="393700" y="6279952"/>
            <a:ext cx="3568700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endParaRPr sz="110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>
            <a:fld id="{8574A810-7A8E-054F-9F6B-09E9C694ECF9}" type="slidenum">
              <a:rPr/>
            </a:fld>
            <a:endParaRPr sz="110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/>
          <a:p>
            <a:r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oter Only">
    <p:spTree>
      <p:nvGrpSpPr>
        <p:cNvPr id="1" name=""/>
        <p:cNvGrpSpPr/>
        <p:nvPr/>
      </p:nvGrpSpPr>
      <p:grpSpPr/>
      <p:sp>
        <p:nvSpPr>
          <p:cNvPr id="7" name="Footer Placeholder 4"/>
          <p:cNvSpPr>
            <a:spLocks noGrp="1"/>
          </p:cNvSpPr>
          <p:nvPr>
            <p:ph type="ftr" idx="3"/>
          </p:nvPr>
        </p:nvSpPr>
        <p:spPr>
          <a:xfrm>
            <a:off x="393700" y="6279952"/>
            <a:ext cx="3568700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endParaRPr sz="1100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>
            <a:fld id="{8574A810-7A8E-054F-9F6B-09E9C694ECF9}" type="slidenum">
              <a:rPr/>
            </a:fld>
            <a:endParaRPr sz="11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6 Field Grid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8 Field Grid">
    <p:bg>
      <p:bgPr>
        <a:blipFill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3700" y="2032000"/>
            <a:ext cx="11404600" cy="3962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idx="3"/>
          </p:nvPr>
        </p:nvSpPr>
        <p:spPr>
          <a:xfrm>
            <a:off x="393700" y="6279952"/>
            <a:ext cx="3568700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l">
              <a:buNone/>
              <a:defRPr sz="1100">
                <a:solidFill>
                  <a:schemeClr val="tx1"/>
                </a:solidFill>
              </a:defRPr>
            </a:lvl1pPr>
          </a:lstStyle>
          <a:p>
            <a:endParaRPr sz="11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1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>
            <a:fld id="{8574A810-7A8E-054F-9F6B-09E9C694ECF9}" type="slidenum">
              <a:rPr/>
            </a:fld>
            <a:endParaRPr sz="11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dt="0"/>
  <p:txStyles>
    <p:titleStyle>
      <a:lvl1pPr algn="l" defTabSz="914400">
        <a:lnSpc>
          <a:spcPct val="90000"/>
        </a:lnSpc>
        <a:spcBef>
          <a:spcPct val="0"/>
        </a:spcBef>
        <a:buNone/>
        <a:defRPr sz="2900" b="0" i="0" kern="1200">
          <a:solidFill>
            <a:schemeClr val="tx1"/>
          </a:solidFill>
          <a:latin typeface="Inter Medium" panose="02000503000000020004"/>
          <a:ea typeface="Inter Medium" panose="02000503000000020004"/>
          <a:cs typeface="Inter Medium" panose="02000503000000020004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6.xml"/><Relationship Id="rId1" Type="http://schemas.openxmlformats.org/officeDocument/2006/relationships/chart" Target="../charts/char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6.xml"/><Relationship Id="rId1" Type="http://schemas.openxmlformats.org/officeDocument/2006/relationships/chart" Target="../charts/char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626339" y="449662"/>
            <a:ext cx="6730425" cy="2401447"/>
          </a:xfrm>
        </p:spPr>
        <p:txBody>
          <a:bodyPr anchor="b">
            <a:noAutofit/>
          </a:bodyPr>
          <a:lstStyle/>
          <a:p>
            <a:pPr>
              <a:lnSpc>
                <a:spcPct val="118000"/>
              </a:lnSpc>
              <a:buNone/>
              <a:defRPr sz="4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4650">
                <a:solidFill>
                  <a:schemeClr val="accent6">
                    <a:lumMod val="75000"/>
                  </a:schemeClr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智慧医养</a:t>
            </a:r>
            <a:endParaRPr sz="4650">
              <a:solidFill>
                <a:schemeClr val="accent6">
                  <a:lumMod val="75000"/>
                </a:schemeClr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>
              <a:lnSpc>
                <a:spcPct val="118000"/>
              </a:lnSpc>
              <a:buNone/>
              <a:defRPr sz="4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4650">
                <a:solidFill>
                  <a:schemeClr val="accent6">
                    <a:lumMod val="75000"/>
                  </a:schemeClr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大数据决策分析系统</a:t>
            </a:r>
            <a:endParaRPr sz="4650">
              <a:solidFill>
                <a:schemeClr val="accent6">
                  <a:lumMod val="75000"/>
                </a:schemeClr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642669" y="3564938"/>
            <a:ext cx="3758374" cy="614676"/>
          </a:xfrm>
        </p:spPr>
        <p:txBody>
          <a:bodyPr>
            <a:noAutofit/>
          </a:bodyPr>
          <a:lstStyle/>
          <a:p>
            <a:pPr>
              <a:lnSpc>
                <a:spcPct val="118000"/>
              </a:lnSpc>
              <a:buNone/>
              <a:defRPr sz="180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800">
                <a:latin typeface="Inter" panose="02000503000000020004"/>
                <a:ea typeface="Inter" panose="02000503000000020004"/>
                <a:cs typeface="Inter" panose="02000503000000020004"/>
              </a:rPr>
              <a:t>课程项目答辩</a:t>
            </a:r>
            <a:endParaRPr sz="1800"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>
              <a:lnSpc>
                <a:spcPct val="118000"/>
              </a:lnSpc>
              <a:buNone/>
              <a:defRPr sz="180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800">
                <a:latin typeface="Inter" panose="02000503000000020004"/>
                <a:ea typeface="Inter" panose="02000503000000020004"/>
                <a:cs typeface="Inter" panose="02000503000000020004"/>
              </a:rPr>
              <a:t>周虹宏 · 钟毓林 · 胡吉涵 · 李治宏</a:t>
            </a:r>
            <a:endParaRPr sz="1800"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pic>
        <p:nvPicPr>
          <p:cNvPr id="9" name="Picture 2"/>
          <p:cNvPicPr>
            <a:picLocks noChangeAspect="1"/>
          </p:cNvPicPr>
          <p:nvPr/>
        </p:nvPicPr>
        <p:blipFill>
          <a:blip r:embed="rId1"/>
          <a:srcRect t="25645" b="61469"/>
          <a:stretch>
            <a:fillRect/>
          </a:stretch>
        </p:blipFill>
        <p:spPr>
          <a:xfrm>
            <a:off x="0" y="4763386"/>
            <a:ext cx="12190542" cy="209461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Number Placeholder 1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E2598689-54C9-18A7-3A19-ED76AA08988F}" type="slidenum">
              <a:rPr/>
            </a:fld>
            <a:endParaRPr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93700" y="883398"/>
            <a:ext cx="7835900" cy="635159"/>
          </a:xfrm>
        </p:spPr>
        <p:txBody>
          <a:bodyPr>
            <a:noAutofit/>
          </a:bodyPr>
          <a:lstStyle/>
          <a:p>
            <a:pPr>
              <a:lnSpc>
                <a:spcPct val="118000"/>
              </a:lnSpc>
              <a:buNone/>
              <a:defRPr sz="270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2700">
                <a:latin typeface="Inter" panose="02000503000000020004"/>
                <a:ea typeface="Inter" panose="02000503000000020004"/>
                <a:cs typeface="Inter" panose="02000503000000020004"/>
              </a:rPr>
              <a:t>答辩内容</a:t>
            </a:r>
            <a:endParaRPr sz="2700"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graphicFrame>
        <p:nvGraphicFramePr>
          <p:cNvPr id="9" name="Table 3"/>
          <p:cNvGraphicFramePr/>
          <p:nvPr/>
        </p:nvGraphicFramePr>
        <p:xfrm>
          <a:off x="393700" y="1689098"/>
          <a:ext cx="11404600" cy="4305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8509"/>
                <a:gridCol w="10526091"/>
              </a:tblGrid>
              <a:tr h="717550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025" b="0" i="0" u="none" cap="none" spc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01</a:t>
                      </a:r>
                      <a:endParaRPr sz="2025" b="0" i="0" u="none" cap="none" spc="0">
                        <a:ln>
                          <a:noFill/>
                        </a:ln>
                        <a:solidFill>
                          <a:schemeClr val="accent6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</a:endParaRPr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025" b="0" i="0" u="none" cap="none" spc="0">
                          <a:ln>
                            <a:noFill/>
                          </a:ln>
                          <a:solidFill>
                            <a:prstClr val="black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项目范围与技术架构</a:t>
                      </a:r>
                      <a:endParaRPr sz="2025" b="0" i="0" u="none" cap="none" spc="0">
                        <a:ln>
                          <a:noFill/>
                        </a:ln>
                        <a:solidFill>
                          <a:prstClr val="black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</a:endParaRPr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17550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025" b="0" i="0" u="none" cap="none" spc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02</a:t>
                      </a:r>
                      <a:endParaRPr sz="2025" b="0" i="0" u="none" cap="none" spc="0">
                        <a:ln>
                          <a:noFill/>
                        </a:ln>
                        <a:solidFill>
                          <a:schemeClr val="accent6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</a:endParaRPr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025" b="0" i="0" u="none" cap="none" spc="0">
                          <a:ln>
                            <a:noFill/>
                          </a:ln>
                          <a:solidFill>
                            <a:prstClr val="black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数据模型与权限设计</a:t>
                      </a:r>
                      <a:endParaRPr sz="2025" b="0" i="0" u="none" cap="none" spc="0">
                        <a:ln>
                          <a:noFill/>
                        </a:ln>
                        <a:solidFill>
                          <a:prstClr val="black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</a:endParaRPr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17550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025" b="0" i="0" u="none" cap="none" spc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03</a:t>
                      </a:r>
                      <a:endParaRPr sz="2025" b="0" i="0" u="none" cap="none" spc="0">
                        <a:ln>
                          <a:noFill/>
                        </a:ln>
                        <a:solidFill>
                          <a:schemeClr val="accent6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</a:endParaRPr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025" b="0" i="0" u="none" cap="none" spc="0">
                          <a:ln>
                            <a:noFill/>
                          </a:ln>
                          <a:solidFill>
                            <a:prstClr val="black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十项功能与数据接入</a:t>
                      </a:r>
                      <a:endParaRPr sz="2025" b="0" i="0" u="none" cap="none" spc="0">
                        <a:ln>
                          <a:noFill/>
                        </a:ln>
                        <a:solidFill>
                          <a:prstClr val="black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</a:endParaRPr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17550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025" b="0" i="0" u="none" cap="none" spc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04</a:t>
                      </a:r>
                      <a:endParaRPr sz="2025" b="0" i="0" u="none" cap="none" spc="0">
                        <a:ln>
                          <a:noFill/>
                        </a:ln>
                        <a:solidFill>
                          <a:schemeClr val="accent6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</a:endParaRPr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025" b="0" i="0" u="none" cap="none" spc="0">
                          <a:ln>
                            <a:noFill/>
                          </a:ln>
                          <a:solidFill>
                            <a:prstClr val="black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测试与性能验证</a:t>
                      </a:r>
                      <a:endParaRPr sz="2025" b="0" i="0" u="none" cap="none" spc="0">
                        <a:ln>
                          <a:noFill/>
                        </a:ln>
                        <a:solidFill>
                          <a:prstClr val="black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</a:endParaRPr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17550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025" b="0" i="0" u="none" cap="none" spc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05</a:t>
                      </a:r>
                      <a:endParaRPr sz="2025" b="0" i="0" u="none" cap="none" spc="0">
                        <a:ln>
                          <a:noFill/>
                        </a:ln>
                        <a:solidFill>
                          <a:schemeClr val="accent6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</a:endParaRPr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025" b="0" i="0" u="none" cap="none" spc="0">
                          <a:ln>
                            <a:noFill/>
                          </a:ln>
                          <a:solidFill>
                            <a:prstClr val="black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四人分工与部署</a:t>
                      </a:r>
                      <a:endParaRPr sz="2025" b="0" i="0" u="none" cap="none" spc="0">
                        <a:ln>
                          <a:noFill/>
                        </a:ln>
                        <a:solidFill>
                          <a:prstClr val="black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</a:endParaRPr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17550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025" b="0" i="0" u="none" cap="none" spc="0">
                          <a:ln>
                            <a:noFill/>
                          </a:ln>
                          <a:solidFill>
                            <a:schemeClr val="accent6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06</a:t>
                      </a:r>
                      <a:endParaRPr sz="2025" b="0" i="0" u="none" cap="none" spc="0">
                        <a:ln>
                          <a:noFill/>
                        </a:ln>
                        <a:solidFill>
                          <a:schemeClr val="accent6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</a:endParaRPr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2025" b="0" i="0" u="none" cap="none" spc="0">
                          <a:ln>
                            <a:noFill/>
                          </a:ln>
                          <a:solidFill>
                            <a:prstClr val="black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当前边界与后续工作</a:t>
                      </a:r>
                      <a:endParaRPr sz="2025" b="0" i="0" u="none" cap="none" spc="0">
                        <a:ln>
                          <a:noFill/>
                        </a:ln>
                        <a:solidFill>
                          <a:prstClr val="black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</a:endParaRPr>
                    </a:p>
                  </a:txBody>
                  <a:tcPr marL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5" name="Footer Placeholder 4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endParaRPr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32" name="Google Shape;532;p58"/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ctr">
            <a:noAutofit/>
          </a:bodyPr>
          <a:lstStyle/>
          <a:p>
            <a:fld id="{202359C0-8A7A-196E-DD58-8E6569619F09}" type="slidenum">
              <a:rPr/>
            </a:fld>
            <a:endParaRPr/>
          </a:p>
        </p:txBody>
      </p:sp>
      <p:sp>
        <p:nvSpPr>
          <p:cNvPr id="533" name="Google Shape;533;p58"/>
          <p:cNvSpPr>
            <a:spLocks noGrp="1"/>
          </p:cNvSpPr>
          <p:nvPr>
            <p:ph type="title"/>
          </p:nvPr>
        </p:nvSpPr>
        <p:spPr>
          <a:xfrm>
            <a:off x="393700" y="344008"/>
            <a:ext cx="9448800" cy="3669192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lnSpc>
                <a:spcPct val="118000"/>
              </a:lnSpc>
              <a:buNone/>
              <a:defRPr sz="31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3150">
                <a:latin typeface="Inter" panose="02000503000000020004"/>
                <a:ea typeface="Inter" panose="02000503000000020004"/>
                <a:cs typeface="Inter" panose="02000503000000020004"/>
              </a:rPr>
              <a:t>整合老人档案、健康检测、</a:t>
            </a:r>
            <a:endParaRPr sz="4800"/>
          </a:p>
          <a:p>
            <a:pPr>
              <a:lnSpc>
                <a:spcPct val="118000"/>
              </a:lnSpc>
              <a:buNone/>
              <a:defRPr sz="31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3150">
                <a:latin typeface="Inter" panose="02000503000000020004"/>
                <a:ea typeface="Inter" panose="02000503000000020004"/>
                <a:cs typeface="Inter" panose="02000503000000020004"/>
              </a:rPr>
              <a:t>医生随访和腕表定位，</a:t>
            </a:r>
            <a:endParaRPr sz="4800"/>
          </a:p>
          <a:p>
            <a:pPr>
              <a:lnSpc>
                <a:spcPct val="118000"/>
              </a:lnSpc>
              <a:buNone/>
              <a:defRPr sz="31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3150">
                <a:latin typeface="Inter" panose="02000503000000020004"/>
                <a:ea typeface="Inter" panose="02000503000000020004"/>
                <a:cs typeface="Inter" panose="02000503000000020004"/>
              </a:rPr>
              <a:t>支持医养服务统计分析</a:t>
            </a:r>
            <a:endParaRPr sz="4800"/>
          </a:p>
        </p:txBody>
      </p:sp>
      <p:sp>
        <p:nvSpPr>
          <p:cNvPr id="4" name="Content Placeholder 15"/>
          <p:cNvSpPr>
            <a:spLocks noGrp="1"/>
          </p:cNvSpPr>
          <p:nvPr/>
        </p:nvSpPr>
        <p:spPr>
          <a:xfrm>
            <a:off x="4305300" y="4826000"/>
            <a:ext cx="3568700" cy="11684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latin typeface="Inter" panose="02000503000000020004"/>
                <a:ea typeface="Inter" panose="02000503000000020004"/>
                <a:cs typeface="Inter" panose="02000503000000020004"/>
              </a:rPr>
              <a:t>功能范围</a:t>
            </a:r>
            <a:endParaRPr sz="1650"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latin typeface="Inter" panose="02000503000000020004"/>
                <a:ea typeface="Inter" panose="02000503000000020004"/>
                <a:cs typeface="Inter" panose="02000503000000020004"/>
              </a:rPr>
              <a:t>十项验收功能。</a:t>
            </a:r>
            <a:endParaRPr sz="1650"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latin typeface="Inter" panose="02000503000000020004"/>
                <a:ea typeface="Inter" panose="02000503000000020004"/>
                <a:cs typeface="Inter" panose="02000503000000020004"/>
              </a:rPr>
              <a:t>批量轨迹和受限删除为现有功能增强。</a:t>
            </a:r>
            <a:endParaRPr sz="1650"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7" name="Text Placeholder 16"/>
          <p:cNvSpPr>
            <a:spLocks noGrp="1"/>
          </p:cNvSpPr>
          <p:nvPr/>
        </p:nvSpPr>
        <p:spPr>
          <a:xfrm>
            <a:off x="8229600" y="4826000"/>
            <a:ext cx="3568700" cy="11684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设备接入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独立密钥保护定位与心跳。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厂商协议适配待真实样机。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8" name="Google Shape;340;p61"/>
          <p:cNvSpPr>
            <a:spLocks noGrp="1"/>
          </p:cNvSpPr>
          <p:nvPr/>
        </p:nvSpPr>
        <p:spPr>
          <a:xfrm>
            <a:off x="4305300" y="4356100"/>
            <a:ext cx="257187" cy="257089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wrap="square" lIns="38100" tIns="38100" rIns="38100" bIns="38100" anchor="ctr">
            <a:noAutofit/>
          </a:bodyPr>
          <a:lstStyle/>
          <a:p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9" name="Google Shape;340;p61"/>
          <p:cNvSpPr>
            <a:spLocks noGrp="1"/>
          </p:cNvSpPr>
          <p:nvPr/>
        </p:nvSpPr>
        <p:spPr>
          <a:xfrm>
            <a:off x="8224158" y="4356100"/>
            <a:ext cx="257187" cy="257089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>
            <a:schemeClr val="accent5">
              <a:lumMod val="50000"/>
            </a:schemeClr>
          </a:solidFill>
          <a:ln>
            <a:noFill/>
          </a:ln>
        </p:spPr>
        <p:txBody>
          <a:bodyPr spcFirstLastPara="1" wrap="square" lIns="38100" tIns="38100" rIns="38100" bIns="38100" anchor="ctr">
            <a:noAutofit/>
          </a:bodyPr>
          <a:lstStyle/>
          <a:p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endParaRPr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" name="Content Placeholder 9"/>
          <p:cNvSpPr>
            <a:spLocks noGrp="1"/>
          </p:cNvSpPr>
          <p:nvPr>
            <p:ph idx="1"/>
          </p:nvPr>
        </p:nvSpPr>
        <p:spPr>
          <a:xfrm>
            <a:off x="393700" y="2032000"/>
            <a:ext cx="5537200" cy="1643185"/>
          </a:xfrm>
        </p:spPr>
        <p:txBody>
          <a:bodyPr>
            <a:noAutofit/>
          </a:bodyPr>
          <a:lstStyle/>
          <a:p>
            <a:pPr marL="0" marR="0" lvl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 b="0" i="0" u="none" cap="none" spc="0">
                <a:ln>
                  <a:noFill/>
                </a:ln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展示层</a:t>
            </a:r>
            <a:endParaRPr sz="1650" b="0" i="0" u="none" cap="none" spc="0">
              <a:ln>
                <a:noFill/>
              </a:ln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marR="0" lvl="0" indent="0" algn="l" defTabSz="91440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 b="0" i="0" u="none" cap="none" spc="0">
                <a:ln>
                  <a:noFill/>
                </a:ln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Vue 3 与 Element Plus 组件。</a:t>
            </a:r>
            <a:endParaRPr sz="1650" b="0" i="0" u="none" cap="none" spc="0">
              <a:ln>
                <a:noFill/>
              </a:ln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marR="0" lvl="0" indent="0" algn="l" defTabSz="91440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 b="0" i="0" u="none" cap="none" spc="0">
                <a:ln>
                  <a:noFill/>
                </a:ln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GeoCanvas 负责坐标交互，ECharts 为当前图表实现。</a:t>
            </a:r>
            <a:endParaRPr sz="1650" b="0" i="0" u="none" cap="none" spc="0">
              <a:ln>
                <a:noFill/>
              </a:ln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EFD6AB9A-5F9E-5F59-51AB-3C8734130965}" type="slidenum">
              <a:rPr/>
            </a:fld>
            <a:endParaRPr/>
          </a:p>
        </p:txBody>
      </p:sp>
      <p:sp>
        <p:nvSpPr>
          <p:cNvPr id="11" name="Content Placeholder 10"/>
          <p:cNvSpPr>
            <a:spLocks noGrp="1"/>
          </p:cNvSpPr>
          <p:nvPr>
            <p:ph idx="10"/>
          </p:nvPr>
        </p:nvSpPr>
        <p:spPr>
          <a:xfrm>
            <a:off x="6256618" y="2032000"/>
            <a:ext cx="5537200" cy="1643185"/>
          </a:xfrm>
        </p:spPr>
        <p:txBody>
          <a:bodyPr>
            <a:noAutofit/>
          </a:bodyPr>
          <a:lstStyle/>
          <a:p>
            <a:pPr marL="0" marR="0" lvl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 b="0" i="0" u="none" cap="none" spc="0">
                <a:ln>
                  <a:noFill/>
                </a:ln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服务层</a:t>
            </a:r>
            <a:endParaRPr sz="1650" b="0" i="0" u="none" cap="none" spc="0">
              <a:ln>
                <a:noFill/>
              </a:ln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marR="0" lvl="0" indent="0" algn="l" defTabSz="91440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 b="0" i="0" u="none" cap="none" spc="0">
                <a:ln>
                  <a:noFill/>
                </a:ln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Spring MVC 接口、Spring 事务。</a:t>
            </a:r>
            <a:endParaRPr sz="1650" b="0" i="0" u="none" cap="none" spc="0">
              <a:ln>
                <a:noFill/>
              </a:ln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marR="0" lvl="0" indent="0" algn="l" defTabSz="91440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 b="0" i="0" u="none" cap="none" spc="0">
                <a:ln>
                  <a:noFill/>
                </a:ln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Spring Security 管理会话与权限。</a:t>
            </a:r>
            <a:endParaRPr sz="1650" b="0" i="0" u="none" cap="none" spc="0">
              <a:ln>
                <a:noFill/>
              </a:ln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93700" y="344009"/>
            <a:ext cx="7835900" cy="1040292"/>
          </a:xfrm>
        </p:spPr>
        <p:txBody>
          <a:bodyPr>
            <a:noAutofit/>
          </a:bodyPr>
          <a:lstStyle/>
          <a:p>
            <a:pPr>
              <a:lnSpc>
                <a:spcPct val="118000"/>
              </a:lnSpc>
              <a:buNone/>
              <a:defRPr sz="270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2700">
                <a:latin typeface="Inter" panose="02000503000000020004"/>
                <a:ea typeface="Inter" panose="02000503000000020004"/>
                <a:cs typeface="Inter" panose="02000503000000020004"/>
              </a:rPr>
              <a:t>系统分层架构</a:t>
            </a:r>
            <a:endParaRPr sz="2700"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4" name="Content Placeholder 9"/>
          <p:cNvSpPr>
            <a:spLocks noGrp="1"/>
          </p:cNvSpPr>
          <p:nvPr/>
        </p:nvSpPr>
        <p:spPr>
          <a:xfrm>
            <a:off x="393700" y="4016975"/>
            <a:ext cx="5537200" cy="1643185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数据访问层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MyBatis-Plus 处理基础 CRUD。</a:t>
            </a:r>
            <a:endParaRPr sz="18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  <a:p>
            <a:pPr marL="0" indent="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MyBatis XML 完成聚合统计。</a:t>
            </a:r>
            <a:endParaRPr sz="18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5" name="Content Placeholder 10"/>
          <p:cNvSpPr>
            <a:spLocks noGrp="1"/>
          </p:cNvSpPr>
          <p:nvPr/>
        </p:nvSpPr>
        <p:spPr>
          <a:xfrm>
            <a:off x="6256618" y="4016975"/>
            <a:ext cx="5537200" cy="1643185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存储与构建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MySQL 保存 18 张业务表。</a:t>
            </a:r>
            <a:endParaRPr sz="18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  <a:p>
            <a:pPr marL="0" indent="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Maven 将前后端打成可执行 JAR。</a:t>
            </a:r>
            <a:endParaRPr sz="18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endParaRPr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32" name="Google Shape;532;p58"/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ctr">
            <a:noAutofit/>
          </a:bodyPr>
          <a:lstStyle/>
          <a:p>
            <a:fld id="{EE5B3003-2C54-13C6-9832-7637201064DE}" type="slidenum">
              <a:rPr/>
            </a:fld>
            <a:endParaRPr/>
          </a:p>
        </p:txBody>
      </p:sp>
      <p:sp>
        <p:nvSpPr>
          <p:cNvPr id="533" name="Google Shape;533;p58"/>
          <p:cNvSpPr>
            <a:spLocks noGrp="1"/>
          </p:cNvSpPr>
          <p:nvPr>
            <p:ph type="title"/>
          </p:nvPr>
        </p:nvSpPr>
        <p:spPr>
          <a:xfrm>
            <a:off x="393700" y="344009"/>
            <a:ext cx="7835900" cy="581584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lnSpc>
                <a:spcPct val="118000"/>
              </a:lnSpc>
              <a:buNone/>
              <a:defRPr sz="270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2700">
                <a:latin typeface="Inter" panose="02000503000000020004"/>
                <a:ea typeface="Inter" panose="02000503000000020004"/>
                <a:cs typeface="Inter" panose="02000503000000020004"/>
              </a:rPr>
              <a:t>18 张表支撑业务历史</a:t>
            </a:r>
            <a:endParaRPr sz="2700"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14" name="Content Placeholder 15"/>
          <p:cNvSpPr>
            <a:spLocks noGrp="1"/>
          </p:cNvSpPr>
          <p:nvPr/>
        </p:nvSpPr>
        <p:spPr>
          <a:xfrm>
            <a:off x="400939" y="1057501"/>
            <a:ext cx="11404599" cy="1012250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数据模型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档案关联业务记录，设备凭据只存摘要，定位与心跳使用事件编号防重。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graphicFrame>
        <p:nvGraphicFramePr>
          <p:cNvPr id="538" name="Google Shape;644;p93"/>
          <p:cNvGraphicFramePr/>
          <p:nvPr/>
        </p:nvGraphicFramePr>
        <p:xfrm>
          <a:off x="393700" y="2251080"/>
          <a:ext cx="11404599" cy="3932614"/>
        </p:xfrm>
        <a:graphic>
          <a:graphicData uri="http://schemas.openxmlformats.org/drawingml/2006/table">
            <a:tbl>
              <a:tblPr firstRow="1"/>
              <a:tblGrid>
                <a:gridCol w="3906063"/>
                <a:gridCol w="1874634"/>
                <a:gridCol w="1874634"/>
                <a:gridCol w="1874634"/>
                <a:gridCol w="1874634"/>
              </a:tblGrid>
              <a:tr h="437022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 b="1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数据组</a:t>
                      </a:r>
                      <a:endParaRPr sz="1400" b="1">
                        <a:solidFill>
                          <a:schemeClr val="accent5">
                            <a:lumMod val="50000"/>
                          </a:schemeClr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Clr>
                          <a:srgbClr val="000000"/>
                        </a:buClr>
                        <a:buSzPts val="1200"/>
                        <a:buFont typeface="Arial" panose="020B0604020202020204"/>
                        <a:buNone/>
                      </a:pPr>
                      <a:r>
                        <a:rPr sz="1125" b="1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实体一</a:t>
                      </a:r>
                      <a:endParaRPr sz="1400" b="1">
                        <a:solidFill>
                          <a:schemeClr val="accent5">
                            <a:lumMod val="50000"/>
                          </a:schemeClr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 b="1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实体二</a:t>
                      </a:r>
                      <a:endParaRPr sz="1400" b="1">
                        <a:solidFill>
                          <a:schemeClr val="accent5">
                            <a:lumMod val="50000"/>
                          </a:schemeClr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Clr>
                          <a:srgbClr val="000000"/>
                        </a:buClr>
                        <a:buSzPts val="1200"/>
                        <a:buFont typeface="Arial" panose="020B0604020202020204"/>
                        <a:buNone/>
                      </a:pPr>
                      <a:r>
                        <a:rPr sz="1125" b="1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关联</a:t>
                      </a:r>
                      <a:endParaRPr sz="1400" b="1">
                        <a:solidFill>
                          <a:schemeClr val="accent5">
                            <a:lumMod val="50000"/>
                          </a:schemeClr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Clr>
                          <a:srgbClr val="000000"/>
                        </a:buClr>
                        <a:buSzPts val="1200"/>
                        <a:buFont typeface="Arial" panose="020B0604020202020204"/>
                        <a:buNone/>
                      </a:pPr>
                      <a:r>
                        <a:rPr sz="1125" b="1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核心约束</a:t>
                      </a:r>
                      <a:endParaRPr sz="1400" b="1">
                        <a:solidFill>
                          <a:schemeClr val="accent5">
                            <a:lumMod val="50000"/>
                          </a:schemeClr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19050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身份地区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sys_user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region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账号与地区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三角色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服务对象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elder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doctor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档案主数据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业务编码唯一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健康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health_rule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health_record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规则快照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来源事件唯一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随访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followup_plan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followup_record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一对零或一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计划唯一完成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设备绑定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watch_device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device_binding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历史关联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有效绑定唯一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空间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location_point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geofence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点与圆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坐标半径校验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围栏监测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geofence_member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geofence_state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一对零或一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成员状态唯一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chemeClr val="dk1"/>
                      </a:solidFill>
                      <a:prstDash val="solid"/>
                    </a:lnB>
                  </a:tcPr>
                </a:tc>
              </a:tr>
              <a:tr h="436949"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设备接入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rgbClr val="D1D2D3">
                          <a:alpha val="0"/>
                        </a:srgbClr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device_credential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device_heartbeat_event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密钥与心跳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700"/>
                        </a:spcAft>
                        <a:buNone/>
                      </a:pPr>
                      <a:r>
                        <a:rPr sz="1125">
                          <a:solidFill>
                            <a:srgbClr val="000000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</a:rPr>
                        <a:t>摘要存储和事件唯一</a:t>
                      </a:r>
                      <a:endParaRPr sz="1400">
                        <a:solidFill>
                          <a:srgbClr val="000000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marL="0" marR="0" marT="91425" marB="91425">
                    <a:lnL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L>
                    <a:lnR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R>
                    <a:lnT w="9525" cmpd="sng">
                      <a:solidFill>
                        <a:schemeClr val="dk1"/>
                      </a:solidFill>
                      <a:prstDash val="solid"/>
                    </a:lnT>
                    <a:lnB w="9525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" name="Footer Placeholder 2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endParaRPr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34" name="Google Shape;534;p58"/>
          <p:cNvSpPr>
            <a:spLocks noGrp="1"/>
          </p:cNvSpPr>
          <p:nvPr>
            <p:ph idx="1"/>
          </p:nvPr>
        </p:nvSpPr>
        <p:spPr>
          <a:xfrm>
            <a:off x="393700" y="1722684"/>
            <a:ext cx="5537200" cy="865422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latin typeface="Inter" panose="02000503000000020004"/>
                <a:ea typeface="Inter" panose="02000503000000020004"/>
                <a:cs typeface="Inter" panose="02000503000000020004"/>
              </a:rPr>
              <a:t>三种角色，后端统一鉴权</a:t>
            </a:r>
            <a:endParaRPr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532" name="Google Shape;532;p58"/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ctr">
            <a:noAutofit/>
          </a:bodyPr>
          <a:lstStyle/>
          <a:p>
            <a:fld id="{8C630A04-5A25-9E0C-9436-126091DB86B3}" type="slidenum">
              <a:rPr/>
            </a:fld>
            <a:endParaRPr/>
          </a:p>
        </p:txBody>
      </p:sp>
      <p:sp>
        <p:nvSpPr>
          <p:cNvPr id="533" name="Google Shape;533;p58"/>
          <p:cNvSpPr>
            <a:spLocks noGrp="1"/>
          </p:cNvSpPr>
          <p:nvPr>
            <p:ph type="title"/>
          </p:nvPr>
        </p:nvSpPr>
        <p:spPr>
          <a:xfrm>
            <a:off x="393700" y="344008"/>
            <a:ext cx="7835900" cy="1040291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lnSpc>
                <a:spcPct val="118000"/>
              </a:lnSpc>
              <a:buNone/>
              <a:defRPr sz="270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2700">
                <a:latin typeface="Inter" panose="02000503000000020004"/>
                <a:ea typeface="Inter" panose="02000503000000020004"/>
                <a:cs typeface="Inter" panose="02000503000000020004"/>
              </a:rPr>
              <a:t>登录与权限设计</a:t>
            </a:r>
            <a:endParaRPr sz="2700"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2" name="Content Placeholder 10"/>
          <p:cNvSpPr>
            <a:spLocks noGrp="1"/>
          </p:cNvSpPr>
          <p:nvPr/>
        </p:nvSpPr>
        <p:spPr>
          <a:xfrm>
            <a:off x="7886700" y="2990317"/>
            <a:ext cx="3911600" cy="548750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服务端 Session 与 CSRF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3" name="Google Shape;340;p61"/>
          <p:cNvSpPr>
            <a:spLocks noGrp="1"/>
          </p:cNvSpPr>
          <p:nvPr/>
        </p:nvSpPr>
        <p:spPr>
          <a:xfrm>
            <a:off x="7507725" y="3015150"/>
            <a:ext cx="212551" cy="21247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38100" tIns="38100" rIns="38100" bIns="38100" anchor="ctr">
            <a:noAutofit/>
          </a:bodyPr>
          <a:lstStyle/>
          <a:p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2" name="TextBox 11"/>
          <p:cNvSpPr>
            <a:spLocks noGrp="1"/>
          </p:cNvSpPr>
          <p:nvPr/>
        </p:nvSpPr>
        <p:spPr>
          <a:xfrm>
            <a:off x="393700" y="2990316"/>
            <a:ext cx="5537200" cy="28846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marR="0" lvl="0" indent="0" algn="l" defTabSz="91440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 b="0" i="0" u="none" cap="none" spc="0">
                <a:ln>
                  <a:noFill/>
                </a:ln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ADMIN 管理账号、数据模拟、误录删除和密钥签发。</a:t>
            </a:r>
            <a:endParaRPr sz="1650" b="0" i="0" u="none" cap="none" spc="0">
              <a:ln>
                <a:noFill/>
              </a:ln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marR="0" lvl="0" indent="0" algn="l" defTabSz="91440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 b="0" i="0" u="none" cap="none" spc="0">
                <a:ln>
                  <a:noFill/>
                </a:ln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OPERATOR 维护业务，ANALYST 只读。角色或密码变化后旧会话失效。</a:t>
            </a:r>
            <a:endParaRPr sz="1650" b="0" i="0" u="none" cap="none" spc="0">
              <a:ln>
                <a:noFill/>
              </a:ln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16" name="Content Placeholder 10"/>
          <p:cNvSpPr>
            <a:spLocks noGrp="1"/>
          </p:cNvSpPr>
          <p:nvPr/>
        </p:nvSpPr>
        <p:spPr>
          <a:xfrm>
            <a:off x="7886700" y="3599916"/>
            <a:ext cx="3911600" cy="548750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电话响应脱敏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17" name="Google Shape;340;p61"/>
          <p:cNvSpPr>
            <a:spLocks noGrp="1"/>
          </p:cNvSpPr>
          <p:nvPr/>
        </p:nvSpPr>
        <p:spPr>
          <a:xfrm>
            <a:off x="7507725" y="3624749"/>
            <a:ext cx="212551" cy="21247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38100" tIns="38100" rIns="38100" bIns="38100" anchor="ctr">
            <a:noAutofit/>
          </a:bodyPr>
          <a:lstStyle/>
          <a:p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" name="Content Placeholder 10"/>
          <p:cNvSpPr>
            <a:spLocks noGrp="1"/>
          </p:cNvSpPr>
          <p:nvPr/>
        </p:nvSpPr>
        <p:spPr>
          <a:xfrm>
            <a:off x="7886700" y="4214765"/>
            <a:ext cx="3911600" cy="548750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保留最后管理员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19" name="Google Shape;340;p61"/>
          <p:cNvSpPr>
            <a:spLocks noGrp="1"/>
          </p:cNvSpPr>
          <p:nvPr/>
        </p:nvSpPr>
        <p:spPr>
          <a:xfrm>
            <a:off x="7507725" y="4239598"/>
            <a:ext cx="212551" cy="21247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38100" tIns="38100" rIns="38100" bIns="38100" anchor="ctr">
            <a:noAutofit/>
          </a:bodyPr>
          <a:lstStyle/>
          <a:p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0" name="Content Placeholder 10"/>
          <p:cNvSpPr>
            <a:spLocks noGrp="1"/>
          </p:cNvSpPr>
          <p:nvPr/>
        </p:nvSpPr>
        <p:spPr>
          <a:xfrm>
            <a:off x="7886700" y="4824364"/>
            <a:ext cx="3911600" cy="548750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写入字段白名单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21" name="Google Shape;340;p61"/>
          <p:cNvSpPr>
            <a:spLocks noGrp="1"/>
          </p:cNvSpPr>
          <p:nvPr/>
        </p:nvSpPr>
        <p:spPr>
          <a:xfrm>
            <a:off x="7507725" y="4849197"/>
            <a:ext cx="212551" cy="21247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38100" tIns="38100" rIns="38100" bIns="38100" anchor="ctr">
            <a:noAutofit/>
          </a:bodyPr>
          <a:lstStyle/>
          <a:p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3" name="Content Placeholder 10"/>
          <p:cNvSpPr>
            <a:spLocks noGrp="1"/>
          </p:cNvSpPr>
          <p:nvPr/>
        </p:nvSpPr>
        <p:spPr>
          <a:xfrm>
            <a:off x="7886700" y="5446664"/>
            <a:ext cx="3911600" cy="548750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设备接口独立密钥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24" name="Google Shape;340;p61"/>
          <p:cNvSpPr>
            <a:spLocks noGrp="1"/>
          </p:cNvSpPr>
          <p:nvPr/>
        </p:nvSpPr>
        <p:spPr>
          <a:xfrm>
            <a:off x="7507725" y="5471497"/>
            <a:ext cx="212551" cy="21247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10800" y="2160"/>
                </a:moveTo>
                <a:cubicBezTo>
                  <a:pt x="6029" y="2160"/>
                  <a:pt x="2160" y="6029"/>
                  <a:pt x="2160" y="10800"/>
                </a:cubicBezTo>
                <a:cubicBezTo>
                  <a:pt x="2160" y="15571"/>
                  <a:pt x="6029" y="19440"/>
                  <a:pt x="10800" y="19440"/>
                </a:cubicBezTo>
                <a:cubicBezTo>
                  <a:pt x="15571" y="19440"/>
                  <a:pt x="19440" y="15571"/>
                  <a:pt x="19440" y="10800"/>
                </a:cubicBezTo>
                <a:cubicBezTo>
                  <a:pt x="19440" y="6029"/>
                  <a:pt x="15571" y="2160"/>
                  <a:pt x="10800" y="2160"/>
                </a:cubicBezTo>
                <a:close/>
                <a:moveTo>
                  <a:pt x="0" y="10800"/>
                </a:moveTo>
                <a:cubicBezTo>
                  <a:pt x="0" y="4835"/>
                  <a:pt x="4835" y="0"/>
                  <a:pt x="10800" y="0"/>
                </a:cubicBezTo>
                <a:cubicBezTo>
                  <a:pt x="16765" y="0"/>
                  <a:pt x="21600" y="4835"/>
                  <a:pt x="21600" y="10800"/>
                </a:cubicBezTo>
                <a:cubicBezTo>
                  <a:pt x="21600" y="16765"/>
                  <a:pt x="16765" y="21600"/>
                  <a:pt x="10800" y="21600"/>
                </a:cubicBezTo>
                <a:cubicBezTo>
                  <a:pt x="4835" y="21600"/>
                  <a:pt x="0" y="16765"/>
                  <a:pt x="0" y="10800"/>
                </a:cubicBezTo>
                <a:close/>
                <a:moveTo>
                  <a:pt x="15201" y="6407"/>
                </a:moveTo>
                <a:cubicBezTo>
                  <a:pt x="15689" y="6750"/>
                  <a:pt x="15807" y="7424"/>
                  <a:pt x="15463" y="7911"/>
                </a:cubicBezTo>
                <a:lnTo>
                  <a:pt x="10333" y="15201"/>
                </a:lnTo>
                <a:cubicBezTo>
                  <a:pt x="10144" y="15470"/>
                  <a:pt x="9844" y="15637"/>
                  <a:pt x="9517" y="15658"/>
                </a:cubicBezTo>
                <a:cubicBezTo>
                  <a:pt x="9190" y="15678"/>
                  <a:pt x="8871" y="15549"/>
                  <a:pt x="8651" y="15307"/>
                </a:cubicBezTo>
                <a:lnTo>
                  <a:pt x="5951" y="12337"/>
                </a:lnTo>
                <a:cubicBezTo>
                  <a:pt x="5550" y="11895"/>
                  <a:pt x="5583" y="11213"/>
                  <a:pt x="6023" y="10811"/>
                </a:cubicBezTo>
                <a:cubicBezTo>
                  <a:pt x="6465" y="10410"/>
                  <a:pt x="7147" y="10443"/>
                  <a:pt x="7549" y="10883"/>
                </a:cubicBezTo>
                <a:lnTo>
                  <a:pt x="9342" y="12856"/>
                </a:lnTo>
                <a:lnTo>
                  <a:pt x="13697" y="6669"/>
                </a:lnTo>
                <a:cubicBezTo>
                  <a:pt x="14040" y="6181"/>
                  <a:pt x="14714" y="6063"/>
                  <a:pt x="15201" y="6407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38100" tIns="38100" rIns="38100" bIns="38100" anchor="ctr">
            <a:noAutofit/>
          </a:bodyPr>
          <a:lstStyle/>
          <a:p>
            <a:pPr algn="ctr">
              <a:buClr>
                <a:srgbClr val="FFFFFF"/>
              </a:buClr>
              <a:buSzPts val="2400"/>
              <a:buNone/>
            </a:pPr>
            <a:endParaRPr sz="2400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endParaRPr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34" name="Google Shape;534;p58"/>
          <p:cNvSpPr>
            <a:spLocks noGrp="1"/>
          </p:cNvSpPr>
          <p:nvPr>
            <p:ph idx="1"/>
          </p:nvPr>
        </p:nvSpPr>
        <p:spPr>
          <a:xfrm>
            <a:off x="393700" y="1638300"/>
            <a:ext cx="3568700" cy="4356099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latin typeface="Inter" panose="02000503000000020004"/>
                <a:ea typeface="Inter" panose="02000503000000020004"/>
                <a:cs typeface="Inter" panose="02000503000000020004"/>
              </a:rPr>
              <a:t>总览与人口</a:t>
            </a:r>
            <a:endParaRPr sz="1600"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latin typeface="Inter" panose="02000503000000020004"/>
                <a:ea typeface="Inter" panose="02000503000000020004"/>
                <a:cs typeface="Inter" panose="02000503000000020004"/>
              </a:rPr>
              <a:t>按地区、日期查看服务概况。</a:t>
            </a:r>
            <a:endParaRPr sz="1600"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latin typeface="Inter" panose="02000503000000020004"/>
                <a:ea typeface="Inter" panose="02000503000000020004"/>
                <a:cs typeface="Inter" panose="02000503000000020004"/>
              </a:rPr>
              <a:t>人口按年龄、性别和地区分组，未知信息单独统计。</a:t>
            </a:r>
            <a:endParaRPr sz="1650"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latin typeface="Inter" panose="02000503000000020004"/>
                <a:ea typeface="Inter" panose="02000503000000020004"/>
                <a:cs typeface="Inter" panose="02000503000000020004"/>
              </a:rPr>
              <a:t>卡片与明细由实际 API 提供。</a:t>
            </a:r>
            <a:endParaRPr sz="1650"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532" name="Google Shape;532;p58"/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ctr">
            <a:noAutofit/>
          </a:bodyPr>
          <a:lstStyle/>
          <a:p>
            <a:fld id="{D3D7D1C8-AE23-AA48-DF65-C742588DBE47}" type="slidenum">
              <a:rPr/>
            </a:fld>
            <a:endParaRPr/>
          </a:p>
        </p:txBody>
      </p:sp>
      <p:sp>
        <p:nvSpPr>
          <p:cNvPr id="533" name="Google Shape;533;p58"/>
          <p:cNvSpPr>
            <a:spLocks noGrp="1"/>
          </p:cNvSpPr>
          <p:nvPr>
            <p:ph type="title"/>
          </p:nvPr>
        </p:nvSpPr>
        <p:spPr>
          <a:xfrm>
            <a:off x="393700" y="344008"/>
            <a:ext cx="3568700" cy="900592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lnSpc>
                <a:spcPct val="118000"/>
              </a:lnSpc>
              <a:buNone/>
              <a:defRPr sz="270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2700">
                <a:latin typeface="Inter" panose="02000503000000020004"/>
                <a:ea typeface="Inter" panose="02000503000000020004"/>
                <a:cs typeface="Inter" panose="02000503000000020004"/>
              </a:rPr>
              <a:t>首页与人口统计</a:t>
            </a:r>
            <a:endParaRPr sz="2700"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2" name="object 3"/>
          <p:cNvSpPr>
            <a:spLocks noGrp="1"/>
          </p:cNvSpPr>
          <p:nvPr/>
        </p:nvSpPr>
        <p:spPr>
          <a:xfrm>
            <a:off x="4305300" y="387896"/>
            <a:ext cx="7499261" cy="5606415"/>
          </a:xfrm>
          <a:custGeom>
            <a:avLst/>
            <a:gdLst/>
            <a:ahLst/>
            <a:cxnLst/>
            <a:rect l="l" t="t" r="r" b="b"/>
            <a:pathLst>
              <a:path w="7386319" h="7475220">
                <a:moveTo>
                  <a:pt x="7385710" y="0"/>
                </a:moveTo>
                <a:lnTo>
                  <a:pt x="0" y="0"/>
                </a:lnTo>
                <a:lnTo>
                  <a:pt x="0" y="7474610"/>
                </a:lnTo>
                <a:lnTo>
                  <a:pt x="7385710" y="7474610"/>
                </a:lnTo>
                <a:lnTo>
                  <a:pt x="7385710" y="0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/>
          <a:lstStyle/>
          <a:p>
            <a:endParaRPr sz="1350"/>
          </a:p>
        </p:txBody>
      </p:sp>
      <p:sp>
        <p:nvSpPr>
          <p:cNvPr id="4" name="Footer Placeholder 3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endParaRPr sz="1100"/>
          </a:p>
        </p:txBody>
      </p:sp>
      <p:pic>
        <p:nvPicPr>
          <p:cNvPr id="541" name="图片 54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05300" y="592062"/>
            <a:ext cx="7503509" cy="5210770"/>
          </a:xfrm>
          <a:prstGeom prst="roundRect">
            <a:avLst>
              <a:gd name="adj" fmla="val 1360"/>
            </a:avLst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34" name="Google Shape;534;p58"/>
          <p:cNvSpPr>
            <a:spLocks noGrp="1"/>
          </p:cNvSpPr>
          <p:nvPr>
            <p:ph idx="1"/>
          </p:nvPr>
        </p:nvSpPr>
        <p:spPr>
          <a:xfrm>
            <a:off x="393700" y="1638300"/>
            <a:ext cx="3568700" cy="4356099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latin typeface="Inter" panose="02000503000000020004"/>
                <a:ea typeface="Inter" panose="02000503000000020004"/>
                <a:cs typeface="Inter" panose="02000503000000020004"/>
              </a:rPr>
              <a:t>检测与趋势</a:t>
            </a:r>
            <a:endParaRPr sz="1600"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latin typeface="Inter" panose="02000503000000020004"/>
                <a:ea typeface="Inter" panose="02000503000000020004"/>
                <a:cs typeface="Inter" panose="02000503000000020004"/>
              </a:rPr>
              <a:t>区分检测次数、检测人数和异常人数。</a:t>
            </a:r>
            <a:endParaRPr sz="1600"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latin typeface="Inter" panose="02000503000000020004"/>
                <a:ea typeface="Inter" panose="02000503000000020004"/>
                <a:cs typeface="Inter" panose="02000503000000020004"/>
              </a:rPr>
              <a:t>保存教学规则版本与快照，缺测保持为空。</a:t>
            </a:r>
            <a:endParaRPr sz="1650"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latin typeface="Inter" panose="02000503000000020004"/>
                <a:ea typeface="Inter" panose="02000503000000020004"/>
                <a:cs typeface="Inter" panose="02000503000000020004"/>
              </a:rPr>
              <a:t>支持单个老人的指标趋势。</a:t>
            </a:r>
            <a:endParaRPr sz="1650"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532" name="Google Shape;532;p58"/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ctr">
            <a:noAutofit/>
          </a:bodyPr>
          <a:lstStyle/>
          <a:p>
            <a:fld id="{BA58DA2A-B818-18A9-29C1-B697728D5BCE}" type="slidenum">
              <a:rPr/>
            </a:fld>
            <a:endParaRPr/>
          </a:p>
        </p:txBody>
      </p:sp>
      <p:sp>
        <p:nvSpPr>
          <p:cNvPr id="533" name="Google Shape;533;p58"/>
          <p:cNvSpPr>
            <a:spLocks noGrp="1"/>
          </p:cNvSpPr>
          <p:nvPr>
            <p:ph type="title"/>
          </p:nvPr>
        </p:nvSpPr>
        <p:spPr>
          <a:xfrm>
            <a:off x="393700" y="344008"/>
            <a:ext cx="3568700" cy="900592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lnSpc>
                <a:spcPct val="118000"/>
              </a:lnSpc>
              <a:buNone/>
              <a:defRPr sz="270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2700">
                <a:latin typeface="Inter" panose="02000503000000020004"/>
                <a:ea typeface="Inter" panose="02000503000000020004"/>
                <a:cs typeface="Inter" panose="02000503000000020004"/>
              </a:rPr>
              <a:t>健康检测分析</a:t>
            </a:r>
            <a:endParaRPr sz="2700"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2" name="object 3"/>
          <p:cNvSpPr>
            <a:spLocks noGrp="1"/>
          </p:cNvSpPr>
          <p:nvPr/>
        </p:nvSpPr>
        <p:spPr>
          <a:xfrm>
            <a:off x="4305300" y="387896"/>
            <a:ext cx="7499261" cy="5606415"/>
          </a:xfrm>
          <a:custGeom>
            <a:avLst/>
            <a:gdLst/>
            <a:ahLst/>
            <a:cxnLst/>
            <a:rect l="l" t="t" r="r" b="b"/>
            <a:pathLst>
              <a:path w="7386319" h="7475220">
                <a:moveTo>
                  <a:pt x="7385710" y="0"/>
                </a:moveTo>
                <a:lnTo>
                  <a:pt x="0" y="0"/>
                </a:lnTo>
                <a:lnTo>
                  <a:pt x="0" y="7474610"/>
                </a:lnTo>
                <a:lnTo>
                  <a:pt x="7385710" y="7474610"/>
                </a:lnTo>
                <a:lnTo>
                  <a:pt x="7385710" y="0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/>
          <a:lstStyle/>
          <a:p>
            <a:endParaRPr sz="1350"/>
          </a:p>
        </p:txBody>
      </p:sp>
      <p:sp>
        <p:nvSpPr>
          <p:cNvPr id="4" name="Footer Placeholder 3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endParaRPr sz="1100"/>
          </a:p>
        </p:txBody>
      </p:sp>
      <p:pic>
        <p:nvPicPr>
          <p:cNvPr id="541" name="图片 54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05300" y="592062"/>
            <a:ext cx="7503509" cy="5210770"/>
          </a:xfrm>
          <a:prstGeom prst="roundRect">
            <a:avLst>
              <a:gd name="adj" fmla="val 1360"/>
            </a:avLst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32" name="Google Shape;532;p58"/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ctr">
            <a:noAutofit/>
          </a:bodyPr>
          <a:lstStyle/>
          <a:p>
            <a:fld id="{388657AE-30A1-5A7A-6A7F-315D84436430}" type="slidenum">
              <a:rPr/>
            </a:fld>
            <a:endParaRPr/>
          </a:p>
        </p:txBody>
      </p:sp>
      <p:sp>
        <p:nvSpPr>
          <p:cNvPr id="533" name="Google Shape;533;p58"/>
          <p:cNvSpPr>
            <a:spLocks noGrp="1"/>
          </p:cNvSpPr>
          <p:nvPr>
            <p:ph type="title"/>
          </p:nvPr>
        </p:nvSpPr>
        <p:spPr>
          <a:xfrm>
            <a:off x="393700" y="344009"/>
            <a:ext cx="11404600" cy="581584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lnSpc>
                <a:spcPct val="118000"/>
              </a:lnSpc>
              <a:buNone/>
              <a:defRPr sz="270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2700">
                <a:latin typeface="Inter" panose="02000503000000020004"/>
                <a:ea typeface="Inter" panose="02000503000000020004"/>
                <a:cs typeface="Inter" panose="02000503000000020004"/>
              </a:rPr>
              <a:t>随访计划与完成率</a:t>
            </a:r>
            <a:endParaRPr sz="2700"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2" name="Rounded Rectangle 1"/>
          <p:cNvSpPr>
            <a:spLocks noGrp="1"/>
          </p:cNvSpPr>
          <p:nvPr/>
        </p:nvSpPr>
        <p:spPr>
          <a:xfrm>
            <a:off x="397013" y="3025321"/>
            <a:ext cx="5533887" cy="1320801"/>
          </a:xfrm>
          <a:prstGeom prst="roundRect">
            <a:avLst>
              <a:gd name="adj" fmla="val 0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3" name="Content Placeholder 10"/>
          <p:cNvSpPr>
            <a:spLocks noGrp="1"/>
          </p:cNvSpPr>
          <p:nvPr/>
        </p:nvSpPr>
        <p:spPr>
          <a:xfrm>
            <a:off x="694248" y="3274205"/>
            <a:ext cx="4986886" cy="877788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计划按到期时间进入分母。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截至查询截止时完成的计划进入分子。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4" name="Content Placeholder 15"/>
          <p:cNvSpPr>
            <a:spLocks noGrp="1"/>
          </p:cNvSpPr>
          <p:nvPr/>
        </p:nvSpPr>
        <p:spPr>
          <a:xfrm>
            <a:off x="694248" y="4514850"/>
            <a:ext cx="5236652" cy="977900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228600" lvl="0" indent="-22860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Font typeface="Arial" panose="020B0604020202020204"/>
              <a:buChar char="•"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创建计划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228600" lvl="0" indent="-22860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Font typeface="Arial" panose="020B0604020202020204"/>
              <a:buChar char="•"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完成或取消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228600" lvl="0" indent="-22860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Font typeface="Arial" panose="020B0604020202020204"/>
              <a:buChar char="•"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保留历史结果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8" name="Rounded Rectangle 7"/>
          <p:cNvSpPr>
            <a:spLocks noGrp="1"/>
          </p:cNvSpPr>
          <p:nvPr/>
        </p:nvSpPr>
        <p:spPr>
          <a:xfrm>
            <a:off x="6260785" y="3025321"/>
            <a:ext cx="5533887" cy="1320801"/>
          </a:xfrm>
          <a:prstGeom prst="roundRect">
            <a:avLst>
              <a:gd name="adj" fmla="val 0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1" name="Content Placeholder 10"/>
          <p:cNvSpPr>
            <a:spLocks noGrp="1"/>
          </p:cNvSpPr>
          <p:nvPr/>
        </p:nvSpPr>
        <p:spPr>
          <a:xfrm>
            <a:off x="6558020" y="3274205"/>
            <a:ext cx="4986886" cy="877788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零分母返回空值。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页面显示无计划，避免显示虚假的 100%。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13" name="Content Placeholder 15"/>
          <p:cNvSpPr>
            <a:spLocks noGrp="1"/>
          </p:cNvSpPr>
          <p:nvPr/>
        </p:nvSpPr>
        <p:spPr>
          <a:xfrm>
            <a:off x="6558020" y="4514850"/>
            <a:ext cx="5236652" cy="977900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228600" lvl="0" indent="-22860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Font typeface="Arial" panose="020B0604020202020204"/>
              <a:buChar char="•"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逾期未完成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228600" lvl="0" indent="-22860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Font typeface="Arial" panose="020B0604020202020204"/>
              <a:buChar char="•"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逾期完成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228600" lvl="0" indent="-22860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Font typeface="Arial" panose="020B0604020202020204"/>
              <a:buChar char="•"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取消单列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14" name="Content Placeholder 15"/>
          <p:cNvSpPr>
            <a:spLocks noGrp="1"/>
          </p:cNvSpPr>
          <p:nvPr/>
        </p:nvSpPr>
        <p:spPr>
          <a:xfrm>
            <a:off x="400939" y="1157513"/>
            <a:ext cx="11404599" cy="1629229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统计口径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同一计划最多一条完成记录。完成操作在事务中锁定计划、写结果并更新状态。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26" name="Content Placeholder 15"/>
          <p:cNvSpPr>
            <a:spLocks noGrp="1"/>
          </p:cNvSpPr>
          <p:nvPr/>
        </p:nvSpPr>
        <p:spPr>
          <a:xfrm>
            <a:off x="400939" y="5617936"/>
            <a:ext cx="11404599" cy="529823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0" indent="0" algn="l" defTabSz="914400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spcAft>
                <a:spcPts val="800"/>
              </a:spcAft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完成率 = 已完成计划数 ÷ 有效应随访计划数。截止时刻取查询结束与当前时间的较早值。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endParaRPr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34" name="Google Shape;534;p58"/>
          <p:cNvSpPr>
            <a:spLocks noGrp="1"/>
          </p:cNvSpPr>
          <p:nvPr>
            <p:ph idx="1"/>
          </p:nvPr>
        </p:nvSpPr>
        <p:spPr>
          <a:xfrm>
            <a:off x="393700" y="1638300"/>
            <a:ext cx="3568700" cy="4356099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latin typeface="Inter" panose="02000503000000020004"/>
                <a:ea typeface="Inter" panose="02000503000000020004"/>
                <a:cs typeface="Inter" panose="02000503000000020004"/>
              </a:rPr>
              <a:t>设备与越界</a:t>
            </a:r>
            <a:endParaRPr sz="1600"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latin typeface="Inter" panose="02000503000000020004"/>
                <a:ea typeface="Inter" panose="02000503000000020004"/>
                <a:cs typeface="Inter" panose="02000503000000020004"/>
              </a:rPr>
              <a:t>设备绑定老人，定位保留发生时的绑定历史。</a:t>
            </a:r>
            <a:endParaRPr sz="1600"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latin typeface="Inter" panose="02000503000000020004"/>
                <a:ea typeface="Inter" panose="02000503000000020004"/>
                <a:cs typeface="Inter" panose="02000503000000020004"/>
              </a:rPr>
              <a:t>圆形围栏用球面距离判断越界，连续在外只产生一次事件。</a:t>
            </a:r>
            <a:endParaRPr sz="1650"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latin typeface="Inter" panose="02000503000000020004"/>
                <a:ea typeface="Inter" panose="02000503000000020004"/>
                <a:cs typeface="Inter" panose="02000503000000020004"/>
              </a:rPr>
              <a:t>人工处理和实际返回分别记录。</a:t>
            </a:r>
            <a:endParaRPr sz="1650"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532" name="Google Shape;532;p58"/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ctr">
            <a:noAutofit/>
          </a:bodyPr>
          <a:lstStyle/>
          <a:p>
            <a:fld id="{DB7BEEEC-A170-5376-2B6E-CB54687B0CB1}" type="slidenum">
              <a:rPr/>
            </a:fld>
            <a:endParaRPr/>
          </a:p>
        </p:txBody>
      </p:sp>
      <p:sp>
        <p:nvSpPr>
          <p:cNvPr id="533" name="Google Shape;533;p58"/>
          <p:cNvSpPr>
            <a:spLocks noGrp="1"/>
          </p:cNvSpPr>
          <p:nvPr>
            <p:ph type="title"/>
          </p:nvPr>
        </p:nvSpPr>
        <p:spPr>
          <a:xfrm>
            <a:off x="393700" y="344008"/>
            <a:ext cx="3568700" cy="900592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lnSpc>
                <a:spcPct val="118000"/>
              </a:lnSpc>
              <a:buNone/>
              <a:defRPr sz="270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2700">
                <a:latin typeface="Inter" panose="02000503000000020004"/>
                <a:ea typeface="Inter" panose="02000503000000020004"/>
                <a:cs typeface="Inter" panose="02000503000000020004"/>
              </a:rPr>
              <a:t>腕表与电子围栏</a:t>
            </a:r>
            <a:endParaRPr sz="2700"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2" name="object 3"/>
          <p:cNvSpPr>
            <a:spLocks noGrp="1"/>
          </p:cNvSpPr>
          <p:nvPr/>
        </p:nvSpPr>
        <p:spPr>
          <a:xfrm>
            <a:off x="4305300" y="387896"/>
            <a:ext cx="7499261" cy="5606415"/>
          </a:xfrm>
          <a:custGeom>
            <a:avLst/>
            <a:gdLst/>
            <a:ahLst/>
            <a:cxnLst/>
            <a:rect l="l" t="t" r="r" b="b"/>
            <a:pathLst>
              <a:path w="7386319" h="7475220">
                <a:moveTo>
                  <a:pt x="7385710" y="0"/>
                </a:moveTo>
                <a:lnTo>
                  <a:pt x="0" y="0"/>
                </a:lnTo>
                <a:lnTo>
                  <a:pt x="0" y="7474610"/>
                </a:lnTo>
                <a:lnTo>
                  <a:pt x="7385710" y="7474610"/>
                </a:lnTo>
                <a:lnTo>
                  <a:pt x="7385710" y="0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/>
          <a:lstStyle/>
          <a:p>
            <a:endParaRPr sz="1350"/>
          </a:p>
        </p:txBody>
      </p:sp>
      <p:sp>
        <p:nvSpPr>
          <p:cNvPr id="4" name="Footer Placeholder 3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endParaRPr sz="1100"/>
          </a:p>
        </p:txBody>
      </p:sp>
      <p:pic>
        <p:nvPicPr>
          <p:cNvPr id="541" name="图片 54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05300" y="592062"/>
            <a:ext cx="7503509" cy="5210770"/>
          </a:xfrm>
          <a:prstGeom prst="roundRect">
            <a:avLst>
              <a:gd name="adj" fmla="val 1360"/>
            </a:avLst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34" name="Google Shape;534;p58"/>
          <p:cNvSpPr>
            <a:spLocks noGrp="1"/>
          </p:cNvSpPr>
          <p:nvPr>
            <p:ph idx="1"/>
          </p:nvPr>
        </p:nvSpPr>
        <p:spPr>
          <a:xfrm>
            <a:off x="393700" y="1638300"/>
            <a:ext cx="3568700" cy="4356099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latin typeface="Inter" panose="02000503000000020004"/>
                <a:ea typeface="Inter" panose="02000503000000020004"/>
                <a:cs typeface="Inter" panose="02000503000000020004"/>
              </a:rPr>
              <a:t>定位模拟与回放</a:t>
            </a:r>
            <a:endParaRPr sz="1600"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latin typeface="Inter" panose="02000503000000020004"/>
                <a:ea typeface="Inter" panose="02000503000000020004"/>
                <a:cs typeface="Inter" panose="02000503000000020004"/>
              </a:rPr>
              <a:t>管理员生成单点、直线、圆形或越界返回轨迹。</a:t>
            </a:r>
            <a:endParaRPr sz="1600"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latin typeface="Inter" panose="02000503000000020004"/>
                <a:ea typeface="Inter" panose="02000503000000020004"/>
                <a:cs typeface="Inter" panose="02000503000000020004"/>
              </a:rPr>
              <a:t>单批最多 500 点，先预览再注入。</a:t>
            </a:r>
            <a:endParaRPr sz="1650"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latin typeface="Inter" panose="02000503000000020004"/>
                <a:ea typeface="Inter" panose="02000503000000020004"/>
                <a:cs typeface="Inter" panose="02000503000000020004"/>
              </a:rPr>
              <a:t>回放支持暂停、倍速和进度调整。</a:t>
            </a:r>
            <a:endParaRPr sz="1650"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532" name="Google Shape;532;p58"/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ctr">
            <a:noAutofit/>
          </a:bodyPr>
          <a:lstStyle/>
          <a:p>
            <a:fld id="{30394428-F1DC-E5F6-DB0C-7DE31F3D8A23}" type="slidenum">
              <a:rPr/>
            </a:fld>
            <a:endParaRPr/>
          </a:p>
        </p:txBody>
      </p:sp>
      <p:sp>
        <p:nvSpPr>
          <p:cNvPr id="533" name="Google Shape;533;p58"/>
          <p:cNvSpPr>
            <a:spLocks noGrp="1"/>
          </p:cNvSpPr>
          <p:nvPr>
            <p:ph type="title"/>
          </p:nvPr>
        </p:nvSpPr>
        <p:spPr>
          <a:xfrm>
            <a:off x="393700" y="344008"/>
            <a:ext cx="3568700" cy="900592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lnSpc>
                <a:spcPct val="118000"/>
              </a:lnSpc>
              <a:buNone/>
              <a:defRPr sz="270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2700">
                <a:latin typeface="Inter" panose="02000503000000020004"/>
                <a:ea typeface="Inter" panose="02000503000000020004"/>
                <a:cs typeface="Inter" panose="02000503000000020004"/>
              </a:rPr>
              <a:t>轨迹注入｜难点突破</a:t>
            </a:r>
            <a:endParaRPr sz="2700"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2" name="object 3"/>
          <p:cNvSpPr>
            <a:spLocks noGrp="1"/>
          </p:cNvSpPr>
          <p:nvPr/>
        </p:nvSpPr>
        <p:spPr>
          <a:xfrm>
            <a:off x="4305300" y="387896"/>
            <a:ext cx="7499261" cy="5606415"/>
          </a:xfrm>
          <a:custGeom>
            <a:avLst/>
            <a:gdLst/>
            <a:ahLst/>
            <a:cxnLst/>
            <a:rect l="l" t="t" r="r" b="b"/>
            <a:pathLst>
              <a:path w="7386319" h="7475220">
                <a:moveTo>
                  <a:pt x="7385710" y="0"/>
                </a:moveTo>
                <a:lnTo>
                  <a:pt x="0" y="0"/>
                </a:lnTo>
                <a:lnTo>
                  <a:pt x="0" y="7474610"/>
                </a:lnTo>
                <a:lnTo>
                  <a:pt x="7385710" y="7474610"/>
                </a:lnTo>
                <a:lnTo>
                  <a:pt x="7385710" y="0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/>
          <a:lstStyle/>
          <a:p>
            <a:endParaRPr sz="1350"/>
          </a:p>
        </p:txBody>
      </p:sp>
      <p:sp>
        <p:nvSpPr>
          <p:cNvPr id="4" name="Footer Placeholder 3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endParaRPr sz="1100"/>
          </a:p>
        </p:txBody>
      </p:sp>
      <p:pic>
        <p:nvPicPr>
          <p:cNvPr id="541" name="图片 54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05300" y="592062"/>
            <a:ext cx="7503509" cy="5210770"/>
          </a:xfrm>
          <a:prstGeom prst="roundRect">
            <a:avLst>
              <a:gd name="adj" fmla="val 1360"/>
            </a:avLst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32" name="Google Shape;532;p58"/>
          <p:cNvSpPr>
            <a:spLocks noGrp="1"/>
          </p:cNvSpPr>
          <p:nvPr>
            <p:ph type="sldNum" idx="4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0" anchor="ctr">
            <a:noAutofit/>
          </a:bodyPr>
          <a:lstStyle/>
          <a:p>
            <a:fld id="{4DB16885-0D3F-A391-B669-3211DB3B26E8}" type="slidenum">
              <a:rPr/>
            </a:fld>
            <a:endParaRPr/>
          </a:p>
        </p:txBody>
      </p:sp>
      <p:sp>
        <p:nvSpPr>
          <p:cNvPr id="533" name="Google Shape;533;p58"/>
          <p:cNvSpPr>
            <a:spLocks noGrp="1"/>
          </p:cNvSpPr>
          <p:nvPr>
            <p:ph type="title"/>
          </p:nvPr>
        </p:nvSpPr>
        <p:spPr>
          <a:xfrm>
            <a:off x="393700" y="344008"/>
            <a:ext cx="5549230" cy="697392"/>
          </a:xfrm>
          <a:prstGeom prst="rect">
            <a:avLst/>
          </a:prstGeom>
        </p:spPr>
        <p:txBody>
          <a:bodyPr spcFirstLastPara="1" vert="horz" wrap="square" lIns="0" tIns="0" rIns="0" bIns="0" anchor="t">
            <a:noAutofit/>
          </a:bodyPr>
          <a:lstStyle/>
          <a:p>
            <a:pPr>
              <a:lnSpc>
                <a:spcPct val="118000"/>
              </a:lnSpc>
              <a:buNone/>
              <a:defRPr sz="270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2700">
                <a:latin typeface="Inter" panose="02000503000000020004"/>
                <a:ea typeface="Inter" panose="02000503000000020004"/>
                <a:cs typeface="Inter" panose="02000503000000020004"/>
              </a:rPr>
              <a:t>V1.1 测试结果</a:t>
            </a:r>
            <a:endParaRPr sz="2700"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7" name="Rounded Rectangle 6"/>
          <p:cNvSpPr>
            <a:spLocks noGrp="1"/>
          </p:cNvSpPr>
          <p:nvPr/>
        </p:nvSpPr>
        <p:spPr>
          <a:xfrm>
            <a:off x="6264412" y="2369856"/>
            <a:ext cx="5533887" cy="1638300"/>
          </a:xfrm>
          <a:prstGeom prst="roundRect">
            <a:avLst>
              <a:gd name="adj" fmla="val 3585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8" name="Content Placeholder 10"/>
          <p:cNvSpPr>
            <a:spLocks noGrp="1"/>
          </p:cNvSpPr>
          <p:nvPr/>
        </p:nvSpPr>
        <p:spPr>
          <a:xfrm>
            <a:off x="6561647" y="2664788"/>
            <a:ext cx="4986886" cy="1048436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MySQL 联调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16 项基础冒烟与 5 项新增写路径通过。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16 表升级后为 18 表，哨兵数据保留。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9" name="Rounded Rectangle 8"/>
          <p:cNvSpPr>
            <a:spLocks noGrp="1"/>
          </p:cNvSpPr>
          <p:nvPr/>
        </p:nvSpPr>
        <p:spPr>
          <a:xfrm>
            <a:off x="6264413" y="393700"/>
            <a:ext cx="5533887" cy="1638300"/>
          </a:xfrm>
          <a:prstGeom prst="roundRect">
            <a:avLst>
              <a:gd name="adj" fmla="val 3585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10" name="Content Placeholder 10"/>
          <p:cNvSpPr>
            <a:spLocks noGrp="1"/>
          </p:cNvSpPr>
          <p:nvPr/>
        </p:nvSpPr>
        <p:spPr>
          <a:xfrm>
            <a:off x="6561648" y="688632"/>
            <a:ext cx="4986886" cy="1048436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Maven 回归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28 项通过，覆盖批量定位、受限删除、心跳幂等与设备密钥。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2" name="Rounded Rectangle 1"/>
          <p:cNvSpPr>
            <a:spLocks noGrp="1"/>
          </p:cNvSpPr>
          <p:nvPr/>
        </p:nvSpPr>
        <p:spPr>
          <a:xfrm>
            <a:off x="6264412" y="4381536"/>
            <a:ext cx="5533887" cy="1638300"/>
          </a:xfrm>
          <a:prstGeom prst="roundRect">
            <a:avLst>
              <a:gd name="adj" fmla="val 3585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3" name="Content Placeholder 10"/>
          <p:cNvSpPr>
            <a:spLocks noGrp="1"/>
          </p:cNvSpPr>
          <p:nvPr/>
        </p:nvSpPr>
        <p:spPr>
          <a:xfrm>
            <a:off x="6561647" y="4676468"/>
            <a:ext cx="4986886" cy="1048436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浏览器检查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原 12 项基线保留，新增功能 4 项通过。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含 390 像素窄屏。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endParaRPr sz="1100"/>
          </a:p>
        </p:txBody>
      </p:sp>
      <p:graphicFrame>
        <p:nvGraphicFramePr>
          <p:cNvPr id="544" name="Chart"/>
          <p:cNvGraphicFramePr/>
          <p:nvPr/>
        </p:nvGraphicFramePr>
        <p:xfrm>
          <a:off x="408718" y="1143000"/>
          <a:ext cx="5124164" cy="50482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Slide Number Placeholder 3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2DD23107-4986-8758-3A93-3D74F35908CC}" type="slidenum">
              <a:rPr/>
            </a:fld>
            <a:endParaRPr sz="1100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393700" y="344009"/>
            <a:ext cx="7835900" cy="697392"/>
          </a:xfrm>
        </p:spPr>
        <p:txBody>
          <a:bodyPr>
            <a:noAutofit/>
          </a:bodyPr>
          <a:lstStyle/>
          <a:p>
            <a:pPr>
              <a:lnSpc>
                <a:spcPct val="118000"/>
              </a:lnSpc>
              <a:buNone/>
              <a:defRPr sz="270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2700">
                <a:latin typeface="Inter" panose="02000503000000020004"/>
                <a:ea typeface="Inter" panose="02000503000000020004"/>
                <a:cs typeface="Inter" panose="02000503000000020004"/>
              </a:rPr>
              <a:t>查询性能实测</a:t>
            </a:r>
            <a:endParaRPr sz="2700"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37" name="Rounded Rectangle 36"/>
          <p:cNvSpPr>
            <a:spLocks noGrp="1"/>
          </p:cNvSpPr>
          <p:nvPr/>
        </p:nvSpPr>
        <p:spPr>
          <a:xfrm>
            <a:off x="6271986" y="3360085"/>
            <a:ext cx="2581975" cy="2656541"/>
          </a:xfrm>
          <a:prstGeom prst="roundRect">
            <a:avLst>
              <a:gd name="adj" fmla="val 6087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38" name="Content Placeholder 9"/>
          <p:cNvSpPr>
            <a:spLocks noGrp="1"/>
          </p:cNvSpPr>
          <p:nvPr/>
        </p:nvSpPr>
        <p:spPr>
          <a:xfrm>
            <a:off x="6509338" y="3579975"/>
            <a:ext cx="2133315" cy="903750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2540" marR="0" lvl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prstClr val="black"/>
              </a:buClr>
              <a:buSzPts val="1400"/>
              <a:buNone/>
              <a:defRPr sz="450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4500" u="none" cap="none" spc="0">
                <a:ln>
                  <a:noFill/>
                </a:ln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2664</a:t>
            </a:r>
            <a:endParaRPr sz="5000"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9" name="Content Placeholder 15"/>
          <p:cNvSpPr>
            <a:spLocks noGrp="1"/>
          </p:cNvSpPr>
          <p:nvPr/>
        </p:nvSpPr>
        <p:spPr>
          <a:xfrm>
            <a:off x="6575956" y="5068235"/>
            <a:ext cx="2066698" cy="615950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Font typeface="Arial" panose="020B0604020202020204"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latin typeface="Inter" panose="02000503000000020004"/>
                <a:ea typeface="Inter" panose="02000503000000020004"/>
                <a:cs typeface="Inter" panose="02000503000000020004"/>
              </a:rPr>
              <a:t>本次请求数</a:t>
            </a:r>
            <a:endParaRPr sz="1400">
              <a:latin typeface="Helvetica Neue"/>
              <a:ea typeface="Helvetica Neue"/>
              <a:cs typeface="Helvetica Neue"/>
            </a:endParaRPr>
          </a:p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Font typeface="Arial" panose="020B0604020202020204"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latin typeface="Inter" panose="02000503000000020004"/>
                <a:ea typeface="Inter" panose="02000503000000020004"/>
                <a:cs typeface="Inter" panose="02000503000000020004"/>
              </a:rPr>
              <a:t>20 个并发线程</a:t>
            </a:r>
            <a:endParaRPr sz="1400"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0" name="Rounded Rectangle 39"/>
          <p:cNvSpPr>
            <a:spLocks noGrp="1"/>
          </p:cNvSpPr>
          <p:nvPr/>
        </p:nvSpPr>
        <p:spPr>
          <a:xfrm>
            <a:off x="9224191" y="3360085"/>
            <a:ext cx="2581975" cy="2656541"/>
          </a:xfrm>
          <a:prstGeom prst="roundRect">
            <a:avLst>
              <a:gd name="adj" fmla="val 4984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41" name="Content Placeholder 9"/>
          <p:cNvSpPr>
            <a:spLocks noGrp="1"/>
          </p:cNvSpPr>
          <p:nvPr/>
        </p:nvSpPr>
        <p:spPr>
          <a:xfrm>
            <a:off x="9461543" y="3579975"/>
            <a:ext cx="2133315" cy="903750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2540" marR="0" lvl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prstClr val="black"/>
              </a:buClr>
              <a:buSzPts val="1400"/>
              <a:buNone/>
              <a:defRPr sz="450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4500" u="none" cap="none" spc="0">
                <a:ln>
                  <a:noFill/>
                </a:ln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0</a:t>
            </a:r>
            <a:endParaRPr sz="5000"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2" name="Content Placeholder 15"/>
          <p:cNvSpPr>
            <a:spLocks noGrp="1"/>
          </p:cNvSpPr>
          <p:nvPr/>
        </p:nvSpPr>
        <p:spPr>
          <a:xfrm>
            <a:off x="9528161" y="5068235"/>
            <a:ext cx="2066698" cy="615950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Font typeface="Arial" panose="020B0604020202020204"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latin typeface="Inter" panose="02000503000000020004"/>
                <a:ea typeface="Inter" panose="02000503000000020004"/>
                <a:cs typeface="Inter" panose="02000503000000020004"/>
              </a:rPr>
              <a:t>请求错误数</a:t>
            </a:r>
            <a:endParaRPr sz="1400">
              <a:latin typeface="Helvetica Neue"/>
              <a:ea typeface="Helvetica Neue"/>
              <a:cs typeface="Helvetica Neue"/>
            </a:endParaRPr>
          </a:p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Font typeface="Arial" panose="020B0604020202020204"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latin typeface="Inter" panose="02000503000000020004"/>
                <a:ea typeface="Inter" panose="02000503000000020004"/>
                <a:cs typeface="Inter" panose="02000503000000020004"/>
              </a:rPr>
              <a:t>四端点均达标</a:t>
            </a:r>
            <a:endParaRPr sz="1400"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3" name="Content Placeholder 2"/>
          <p:cNvSpPr>
            <a:spLocks noGrp="1"/>
          </p:cNvSpPr>
          <p:nvPr/>
        </p:nvSpPr>
        <p:spPr>
          <a:xfrm>
            <a:off x="6261100" y="1955554"/>
            <a:ext cx="5539873" cy="9906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Font typeface="Arial" panose="020B0604020202020204"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latin typeface="Inter" panose="02000503000000020004"/>
                <a:ea typeface="Inter" panose="02000503000000020004"/>
                <a:cs typeface="Inter" panose="02000503000000020004"/>
              </a:rPr>
              <a:t>101080 条健康记录、100648 条定位记录。</a:t>
            </a:r>
            <a:endParaRPr sz="1650"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Font typeface="Arial" panose="020B0604020202020204"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latin typeface="Inter" panose="02000503000000020004"/>
                <a:ea typeface="Inter" panose="02000503000000020004"/>
                <a:cs typeface="Inter" panose="02000503000000020004"/>
              </a:rPr>
              <a:t>持续约 60 秒，四类查询 P95 均低于 2 秒。</a:t>
            </a:r>
            <a:endParaRPr sz="1650"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endParaRPr sz="1100"/>
          </a:p>
        </p:txBody>
      </p:sp>
      <p:graphicFrame>
        <p:nvGraphicFramePr>
          <p:cNvPr id="55" name="Chart"/>
          <p:cNvGraphicFramePr/>
          <p:nvPr/>
        </p:nvGraphicFramePr>
        <p:xfrm>
          <a:off x="385858" y="1254728"/>
          <a:ext cx="5534216" cy="495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0" name="Content Placeholder 9"/>
          <p:cNvSpPr>
            <a:spLocks noGrp="1"/>
          </p:cNvSpPr>
          <p:nvPr>
            <p:ph idx="1"/>
          </p:nvPr>
        </p:nvSpPr>
        <p:spPr>
          <a:xfrm>
            <a:off x="393700" y="2032000"/>
            <a:ext cx="5537200" cy="1643185"/>
          </a:xfrm>
        </p:spPr>
        <p:txBody>
          <a:bodyPr>
            <a:noAutofit/>
          </a:bodyPr>
          <a:lstStyle/>
          <a:p>
            <a:pPr marL="0" marR="0" lvl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 b="0" i="0" u="none" cap="none" spc="0">
                <a:ln>
                  <a:noFill/>
                </a:ln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周虹宏｜项目经理兼测试</a:t>
            </a:r>
            <a:endParaRPr sz="1650" b="0" i="0" u="none" cap="none" spc="0">
              <a:ln>
                <a:noFill/>
              </a:ln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marR="0" lvl="0" indent="0" algn="l" defTabSz="91440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 b="0" i="0" u="none" cap="none" spc="0">
                <a:ln>
                  <a:noFill/>
                </a:ln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需求、计划、例会、用例、日志。</a:t>
            </a:r>
            <a:endParaRPr sz="1650" b="0" i="0" u="none" cap="none" spc="0">
              <a:ln>
                <a:noFill/>
              </a:ln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marR="0" lvl="0" indent="0" algn="l" defTabSz="91440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 b="0" i="0" u="none" cap="none" spc="0">
                <a:ln>
                  <a:noFill/>
                </a:ln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组织验收并汇总答辩。</a:t>
            </a:r>
            <a:endParaRPr sz="1650" b="0" i="0" u="none" cap="none" spc="0">
              <a:ln>
                <a:noFill/>
              </a:ln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327921A4-25C4-3DB4-06B1-32693CEE2241}" type="slidenum">
              <a:rPr/>
            </a:fld>
            <a:endParaRPr/>
          </a:p>
        </p:txBody>
      </p:sp>
      <p:sp>
        <p:nvSpPr>
          <p:cNvPr id="11" name="Content Placeholder 10"/>
          <p:cNvSpPr>
            <a:spLocks noGrp="1"/>
          </p:cNvSpPr>
          <p:nvPr>
            <p:ph idx="10"/>
          </p:nvPr>
        </p:nvSpPr>
        <p:spPr>
          <a:xfrm>
            <a:off x="6256618" y="2032000"/>
            <a:ext cx="5537200" cy="1643185"/>
          </a:xfrm>
        </p:spPr>
        <p:txBody>
          <a:bodyPr>
            <a:noAutofit/>
          </a:bodyPr>
          <a:lstStyle/>
          <a:p>
            <a:pPr marL="0" marR="0" lvl="0" indent="0" algn="l" defTabSz="91440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 b="0" i="0" u="none" cap="none" spc="0">
                <a:ln>
                  <a:noFill/>
                </a:ln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钟毓林｜后端工程师</a:t>
            </a:r>
            <a:endParaRPr sz="1650" b="0" i="0" u="none" cap="none" spc="0">
              <a:ln>
                <a:noFill/>
              </a:ln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marR="0" lvl="0" indent="0" algn="l" defTabSz="91440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 b="0" i="0" u="none" cap="none" spc="0">
                <a:ln>
                  <a:noFill/>
                </a:ln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认证、档案、健康与随访。</a:t>
            </a:r>
            <a:endParaRPr sz="1650" b="0" i="0" u="none" cap="none" spc="0">
              <a:ln>
                <a:noFill/>
              </a:ln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marR="0" lvl="0" indent="0" algn="l" defTabSz="91440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ClrTx/>
              <a:buSzTx/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 b="0" i="0" u="none" cap="none" spc="0">
                <a:ln>
                  <a:noFill/>
                </a:ln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维护业务测试与接口说明。</a:t>
            </a:r>
            <a:endParaRPr sz="1650" b="0" i="0" u="none" cap="none" spc="0">
              <a:ln>
                <a:noFill/>
              </a:ln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93700" y="344009"/>
            <a:ext cx="7835900" cy="1040292"/>
          </a:xfrm>
        </p:spPr>
        <p:txBody>
          <a:bodyPr>
            <a:noAutofit/>
          </a:bodyPr>
          <a:lstStyle/>
          <a:p>
            <a:pPr>
              <a:lnSpc>
                <a:spcPct val="118000"/>
              </a:lnSpc>
              <a:buNone/>
              <a:defRPr sz="270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2700">
                <a:latin typeface="Inter" panose="02000503000000020004"/>
                <a:ea typeface="Inter" panose="02000503000000020004"/>
                <a:cs typeface="Inter" panose="02000503000000020004"/>
              </a:rPr>
              <a:t>四人分工</a:t>
            </a:r>
            <a:endParaRPr sz="2700"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4" name="Content Placeholder 9"/>
          <p:cNvSpPr>
            <a:spLocks noGrp="1"/>
          </p:cNvSpPr>
          <p:nvPr/>
        </p:nvSpPr>
        <p:spPr>
          <a:xfrm>
            <a:off x="393700" y="4016975"/>
            <a:ext cx="5537200" cy="1643185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胡吉涵｜后端兼数据工程师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SQL、设备接入、围栏与轨迹。</a:t>
            </a:r>
            <a:endParaRPr sz="18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  <a:p>
            <a:pPr marL="0" indent="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承担性能验证与部署。</a:t>
            </a:r>
            <a:endParaRPr sz="18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5" name="Content Placeholder 10"/>
          <p:cNvSpPr>
            <a:spLocks noGrp="1"/>
          </p:cNvSpPr>
          <p:nvPr/>
        </p:nvSpPr>
        <p:spPr>
          <a:xfrm>
            <a:off x="6256618" y="4016975"/>
            <a:ext cx="5537200" cy="1643185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 panose="020B0604020202020204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18000"/>
              </a:lnSpc>
              <a:spcBef>
                <a:spcPts val="0"/>
              </a:spcBef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李治宏｜前端工程师</a:t>
            </a:r>
            <a:endParaRPr sz="1650"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Vue 页面、图表和数据模拟。</a:t>
            </a:r>
            <a:endParaRPr sz="18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  <a:p>
            <a:pPr marL="0" indent="0">
              <a:lnSpc>
                <a:spcPct val="118000"/>
              </a:lnSpc>
              <a:spcBef>
                <a:spcPts val="1300"/>
              </a:spcBef>
              <a:spcAft>
                <a:spcPts val="1300"/>
              </a:spcAft>
              <a:buFontTx/>
              <a:buNone/>
              <a:defRPr sz="1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650"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负责联调、截图与现场演示。</a:t>
            </a:r>
            <a:endParaRPr sz="1800">
              <a:solidFill>
                <a:prstClr val="black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endParaRPr sz="1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6" name="Content Placeholder 15"/>
          <p:cNvSpPr>
            <a:spLocks noGrp="1"/>
          </p:cNvSpPr>
          <p:nvPr>
            <p:ph idx="1"/>
          </p:nvPr>
        </p:nvSpPr>
        <p:spPr>
          <a:xfrm>
            <a:off x="393700" y="3822700"/>
            <a:ext cx="2595934" cy="1168400"/>
          </a:xfrm>
        </p:spPr>
        <p:txBody>
          <a:bodyPr>
            <a:noAutofit/>
          </a:bodyPr>
          <a:lstStyle/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50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500">
                <a:latin typeface="Inter" panose="02000503000000020004"/>
                <a:ea typeface="Inter" panose="02000503000000020004"/>
                <a:cs typeface="Inter" panose="02000503000000020004"/>
              </a:rPr>
              <a:t>准备数据库</a:t>
            </a:r>
            <a:endParaRPr sz="1500"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50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500">
                <a:latin typeface="Inter" panose="02000503000000020004"/>
                <a:ea typeface="Inter" panose="02000503000000020004"/>
                <a:cs typeface="Inter" panose="02000503000000020004"/>
              </a:rPr>
              <a:t>新库执行 18 表脚本；V1.0 先备份，再执行两表升级。</a:t>
            </a:r>
            <a:endParaRPr sz="1500"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EA83FA91-883A-0168-8075-96CEB9DCA3C2}" type="slidenum">
              <a:rPr/>
            </a:fld>
            <a:endParaRPr sz="1100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>
          <a:xfrm>
            <a:off x="393700" y="344008"/>
            <a:ext cx="7846838" cy="1034893"/>
          </a:xfrm>
        </p:spPr>
        <p:txBody>
          <a:bodyPr>
            <a:noAutofit/>
          </a:bodyPr>
          <a:lstStyle/>
          <a:p>
            <a:pPr>
              <a:lnSpc>
                <a:spcPct val="118000"/>
              </a:lnSpc>
              <a:buNone/>
              <a:defRPr sz="270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2700">
                <a:latin typeface="Inter" panose="02000503000000020004"/>
                <a:ea typeface="Inter" panose="02000503000000020004"/>
                <a:cs typeface="Inter" panose="02000503000000020004"/>
              </a:rPr>
              <a:t>部署与团队验收</a:t>
            </a:r>
            <a:endParaRPr sz="2700"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idx="12"/>
          </p:nvPr>
        </p:nvSpPr>
        <p:spPr>
          <a:xfrm>
            <a:off x="4317119" y="3822700"/>
            <a:ext cx="2595934" cy="1168400"/>
          </a:xfrm>
        </p:spPr>
        <p:txBody>
          <a:bodyPr>
            <a:noAutofit/>
          </a:bodyPr>
          <a:lstStyle/>
          <a:p>
            <a:pPr marL="0" marR="0" lvl="0" indent="0" algn="l" defTabSz="91440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/>
              <a:buNone/>
              <a:defRPr sz="150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500" b="0" i="0" u="none" cap="none" spc="0">
                <a:ln>
                  <a:noFill/>
                </a:ln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构建与启动</a:t>
            </a:r>
            <a:endParaRPr sz="1500" b="0" i="0" u="none" cap="none" spc="0">
              <a:ln>
                <a:noFill/>
              </a:ln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marR="0" lvl="0" indent="0" algn="l" defTabSz="91440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/>
              <a:buNone/>
              <a:defRPr sz="150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500" b="0" i="0" u="none" cap="none" spc="0">
                <a:ln>
                  <a:noFill/>
                </a:ln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Vue 生产构建，Maven 测试打包，以 JAR 同源运行。</a:t>
            </a:r>
            <a:endParaRPr sz="1500" b="0" i="0" u="none" cap="none" spc="0">
              <a:ln>
                <a:noFill/>
              </a:ln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18" name="Content Placeholder 17"/>
          <p:cNvSpPr>
            <a:spLocks noGrp="1"/>
          </p:cNvSpPr>
          <p:nvPr>
            <p:ph idx="13"/>
          </p:nvPr>
        </p:nvSpPr>
        <p:spPr>
          <a:xfrm>
            <a:off x="8240538" y="3822700"/>
            <a:ext cx="2595934" cy="1168400"/>
          </a:xfrm>
        </p:spPr>
        <p:txBody>
          <a:bodyPr>
            <a:noAutofit/>
          </a:bodyPr>
          <a:lstStyle/>
          <a:p>
            <a:pPr marL="0" marR="0" lvl="0" indent="0" algn="l" defTabSz="91440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/>
              <a:buNone/>
              <a:defRPr sz="150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500" b="0" i="0" u="none" cap="none" spc="0">
                <a:ln>
                  <a:noFill/>
                </a:ln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验证与交付</a:t>
            </a:r>
            <a:endParaRPr sz="1500" b="0" i="0" u="none" cap="none" spc="0">
              <a:ln>
                <a:noFill/>
              </a:ln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 marL="0" marR="0" lvl="0" indent="0" algn="l" defTabSz="91440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 typeface="Arial" panose="020B0604020202020204"/>
              <a:buNone/>
              <a:defRPr sz="150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500" b="0" i="0" u="none" cap="none" spc="0">
                <a:ln>
                  <a:noFill/>
                </a:ln>
                <a:solidFill>
                  <a:prstClr val="black"/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核对后台权限和设备密钥，补测 JDK 17 与 IDEA 右键测试。</a:t>
            </a:r>
            <a:endParaRPr sz="1500" b="0" i="0" u="none" cap="none" spc="0">
              <a:ln>
                <a:noFill/>
              </a:ln>
              <a:solidFill>
                <a:prstClr val="black"/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cxnSp>
        <p:nvCxnSpPr>
          <p:cNvPr id="24" name="Google Shape;2259;p159"/>
          <p:cNvCxnSpPr>
            <a:stCxn id="3" idx="2"/>
          </p:cNvCxnSpPr>
          <p:nvPr/>
        </p:nvCxnSpPr>
        <p:spPr>
          <a:xfrm>
            <a:off x="337757" y="3373755"/>
            <a:ext cx="11430000" cy="286"/>
          </a:xfrm>
          <a:prstGeom prst="straightConnector1">
            <a:avLst/>
          </a:prstGeom>
          <a:ln w="9525" cap="flat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Google Shape;2260;p159"/>
          <p:cNvSpPr>
            <a:spLocks noGrp="1"/>
          </p:cNvSpPr>
          <p:nvPr/>
        </p:nvSpPr>
        <p:spPr>
          <a:xfrm>
            <a:off x="337718" y="3320203"/>
            <a:ext cx="107100" cy="1071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AI Sans" panose="020B0004030202060203"/>
              <a:ea typeface="OpenAI Sans" panose="020B0004030202060203"/>
              <a:cs typeface="OpenAI Sans" panose="020B0004030202060203"/>
            </a:endParaRPr>
          </a:p>
        </p:txBody>
      </p:sp>
      <p:sp>
        <p:nvSpPr>
          <p:cNvPr id="5" name="Google Shape;2261;p159"/>
          <p:cNvSpPr>
            <a:spLocks noGrp="1"/>
          </p:cNvSpPr>
          <p:nvPr/>
        </p:nvSpPr>
        <p:spPr>
          <a:xfrm>
            <a:off x="4251750" y="3320203"/>
            <a:ext cx="107100" cy="1071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AI Sans" panose="020B0004030202060203"/>
              <a:ea typeface="OpenAI Sans" panose="020B0004030202060203"/>
              <a:cs typeface="OpenAI Sans" panose="020B0004030202060203"/>
            </a:endParaRPr>
          </a:p>
        </p:txBody>
      </p:sp>
      <p:sp>
        <p:nvSpPr>
          <p:cNvPr id="6" name="Google Shape;2262;p159"/>
          <p:cNvSpPr>
            <a:spLocks noGrp="1"/>
          </p:cNvSpPr>
          <p:nvPr/>
        </p:nvSpPr>
        <p:spPr>
          <a:xfrm>
            <a:off x="8176050" y="3320203"/>
            <a:ext cx="107100" cy="1071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OpenAI Sans" panose="020B0004030202060203"/>
              <a:ea typeface="OpenAI Sans" panose="020B0004030202060203"/>
              <a:cs typeface="OpenAI Sans" panose="020B0004030202060203"/>
            </a:endParaRPr>
          </a:p>
        </p:txBody>
      </p:sp>
      <p:sp>
        <p:nvSpPr>
          <p:cNvPr id="9" name="Content Placeholder 15"/>
          <p:cNvSpPr>
            <a:spLocks noGrp="1"/>
          </p:cNvSpPr>
          <p:nvPr/>
        </p:nvSpPr>
        <p:spPr>
          <a:xfrm>
            <a:off x="393700" y="2843266"/>
            <a:ext cx="1612900" cy="262400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50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500">
                <a:latin typeface="Inter" panose="02000503000000020004"/>
                <a:ea typeface="Inter" panose="02000503000000020004"/>
                <a:cs typeface="Inter" panose="02000503000000020004"/>
              </a:rPr>
              <a:t>第一步</a:t>
            </a:r>
            <a:endParaRPr sz="1500"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13" name="Content Placeholder 15"/>
          <p:cNvSpPr>
            <a:spLocks noGrp="1"/>
          </p:cNvSpPr>
          <p:nvPr/>
        </p:nvSpPr>
        <p:spPr>
          <a:xfrm>
            <a:off x="4294187" y="2843266"/>
            <a:ext cx="1612900" cy="262400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50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500">
                <a:latin typeface="Inter" panose="02000503000000020004"/>
                <a:ea typeface="Inter" panose="02000503000000020004"/>
                <a:cs typeface="Inter" panose="02000503000000020004"/>
              </a:rPr>
              <a:t>第二步</a:t>
            </a:r>
            <a:endParaRPr sz="1500"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14" name="Content Placeholder 15"/>
          <p:cNvSpPr>
            <a:spLocks noGrp="1"/>
          </p:cNvSpPr>
          <p:nvPr/>
        </p:nvSpPr>
        <p:spPr>
          <a:xfrm>
            <a:off x="8223249" y="2843266"/>
            <a:ext cx="1612900" cy="262400"/>
          </a:xfrm>
          <a:prstGeom prst="rect">
            <a:avLst/>
          </a:prstGeom>
        </p:spPr>
        <p:txBody>
          <a:bodyPr vert="horz" lIns="0" tIns="0" rIns="0" bIns="0"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 panose="020B0604020202020204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  <a:buNone/>
              <a:defRPr sz="150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500">
                <a:latin typeface="Inter" panose="02000503000000020004"/>
                <a:ea typeface="Inter" panose="02000503000000020004"/>
                <a:cs typeface="Inter" panose="02000503000000020004"/>
              </a:rPr>
              <a:t>第三步</a:t>
            </a:r>
            <a:endParaRPr sz="1500"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idx="3"/>
          </p:nvPr>
        </p:nvSpPr>
        <p:spPr/>
        <p:txBody>
          <a:bodyPr/>
          <a:lstStyle/>
          <a:p>
            <a:endParaRPr sz="11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626339" y="449662"/>
            <a:ext cx="6730425" cy="2401447"/>
          </a:xfrm>
        </p:spPr>
        <p:txBody>
          <a:bodyPr anchor="b">
            <a:noAutofit/>
          </a:bodyPr>
          <a:lstStyle/>
          <a:p>
            <a:pPr>
              <a:lnSpc>
                <a:spcPct val="118000"/>
              </a:lnSpc>
              <a:buNone/>
              <a:defRPr sz="465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4650">
                <a:solidFill>
                  <a:schemeClr val="accent6">
                    <a:lumMod val="75000"/>
                  </a:schemeClr>
                </a:solidFill>
                <a:latin typeface="Inter" panose="02000503000000020004"/>
                <a:ea typeface="Inter" panose="02000503000000020004"/>
                <a:cs typeface="Inter" panose="02000503000000020004"/>
              </a:rPr>
              <a:t>项目收获与演示交流</a:t>
            </a:r>
            <a:endParaRPr sz="4650">
              <a:solidFill>
                <a:schemeClr val="accent6">
                  <a:lumMod val="75000"/>
                </a:schemeClr>
              </a:solidFill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642669" y="3564938"/>
            <a:ext cx="3758374" cy="614676"/>
          </a:xfrm>
        </p:spPr>
        <p:txBody>
          <a:bodyPr>
            <a:noAutofit/>
          </a:bodyPr>
          <a:lstStyle/>
          <a:p>
            <a:pPr>
              <a:lnSpc>
                <a:spcPct val="118000"/>
              </a:lnSpc>
              <a:buNone/>
              <a:defRPr sz="180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800">
                <a:latin typeface="Inter" panose="02000503000000020004"/>
                <a:ea typeface="Inter" panose="02000503000000020004"/>
                <a:cs typeface="Inter" panose="02000503000000020004"/>
              </a:rPr>
              <a:t>十项验收功能与 V1.1 优化已实现</a:t>
            </a:r>
            <a:endParaRPr sz="1800">
              <a:latin typeface="Inter" panose="02000503000000020004"/>
              <a:ea typeface="Inter" panose="02000503000000020004"/>
              <a:cs typeface="Inter" panose="02000503000000020004"/>
            </a:endParaRPr>
          </a:p>
          <a:p>
            <a:pPr>
              <a:lnSpc>
                <a:spcPct val="118000"/>
              </a:lnSpc>
              <a:buNone/>
              <a:defRPr sz="1800">
                <a:latin typeface="Inter" panose="02000503000000020004"/>
                <a:ea typeface="Inter" panose="02000503000000020004"/>
                <a:cs typeface="Inter" panose="02000503000000020004"/>
              </a:defRPr>
            </a:pPr>
            <a:r>
              <a:rPr sz="1800">
                <a:latin typeface="Inter" panose="02000503000000020004"/>
                <a:ea typeface="Inter" panose="02000503000000020004"/>
                <a:cs typeface="Inter" panose="02000503000000020004"/>
              </a:rPr>
              <a:t>收获：统一口径、数据约束、跨角色协作和可验证交付</a:t>
            </a:r>
            <a:endParaRPr sz="1800">
              <a:latin typeface="Inter" panose="02000503000000020004"/>
              <a:ea typeface="Inter" panose="02000503000000020004"/>
              <a:cs typeface="Inter" panose="02000503000000020004"/>
            </a:endParaRPr>
          </a:p>
        </p:txBody>
      </p:sp>
      <p:pic>
        <p:nvPicPr>
          <p:cNvPr id="10" name="Picture 7"/>
          <p:cNvPicPr>
            <a:picLocks noChangeAspect="1"/>
          </p:cNvPicPr>
          <p:nvPr/>
        </p:nvPicPr>
        <p:blipFill>
          <a:blip r:embed="rId1"/>
          <a:srcRect t="25645" b="61469"/>
          <a:stretch>
            <a:fillRect/>
          </a:stretch>
        </p:blipFill>
        <p:spPr>
          <a:xfrm>
            <a:off x="0" y="4763386"/>
            <a:ext cx="12192000" cy="209461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fault Codex Theme">
  <a:themeElements>
    <a:clrScheme name="Color Block Theme">
      <a:dk1>
        <a:srgbClr val="000000"/>
      </a:dk1>
      <a:lt1>
        <a:srgbClr val="FFFFFF"/>
      </a:lt1>
      <a:dk2>
        <a:srgbClr val="393939"/>
      </a:dk2>
      <a:lt2>
        <a:srgbClr val="F5F5F5"/>
      </a:lt2>
      <a:accent1>
        <a:srgbClr val="2ED978"/>
      </a:accent1>
      <a:accent2>
        <a:srgbClr val="9FB6FE"/>
      </a:accent2>
      <a:accent3>
        <a:srgbClr val="F3F161"/>
      </a:accent3>
      <a:accent4>
        <a:srgbClr val="FF5F27"/>
      </a:accent4>
      <a:accent5>
        <a:srgbClr val="5EC4FF"/>
      </a:accent5>
      <a:accent6>
        <a:srgbClr val="3C7DA3"/>
      </a:accent6>
      <a:hlink>
        <a:srgbClr val="FFA83A"/>
      </a:hlink>
      <a:folHlink>
        <a:srgbClr val="96607D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Color Block Them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Default Codex Theme">
  <a:themeElements>
    <a:clrScheme name="Color Block Theme">
      <a:dk1>
        <a:srgbClr val="000000"/>
      </a:dk1>
      <a:lt1>
        <a:srgbClr val="FFFFFF"/>
      </a:lt1>
      <a:dk2>
        <a:srgbClr val="393939"/>
      </a:dk2>
      <a:lt2>
        <a:srgbClr val="F5F5F5"/>
      </a:lt2>
      <a:accent1>
        <a:srgbClr val="2ED978"/>
      </a:accent1>
      <a:accent2>
        <a:srgbClr val="9FB6FE"/>
      </a:accent2>
      <a:accent3>
        <a:srgbClr val="F3F161"/>
      </a:accent3>
      <a:accent4>
        <a:srgbClr val="FF5F27"/>
      </a:accent4>
      <a:accent5>
        <a:srgbClr val="5EC4FF"/>
      </a:accent5>
      <a:accent6>
        <a:srgbClr val="3C7DA3"/>
      </a:accent6>
      <a:hlink>
        <a:srgbClr val="FFA83A"/>
      </a:hlink>
      <a:folHlink>
        <a:srgbClr val="96607D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Color Block Them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1893</Words>
  <Application>WPS 演示</Application>
  <PresentationFormat>Converted Presentation</PresentationFormat>
  <Paragraphs>319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9" baseType="lpstr">
      <vt:lpstr>Arial</vt:lpstr>
      <vt:lpstr>宋体</vt:lpstr>
      <vt:lpstr>Wingdings</vt:lpstr>
      <vt:lpstr>Inter Medium</vt:lpstr>
      <vt:lpstr>Arial</vt:lpstr>
      <vt:lpstr>Inter SemiBold</vt:lpstr>
      <vt:lpstr>Inter</vt:lpstr>
      <vt:lpstr>Helvetica Neue</vt:lpstr>
      <vt:lpstr>OpenAI Sans</vt:lpstr>
      <vt:lpstr>微软雅黑</vt:lpstr>
      <vt:lpstr>Arial Unicode MS</vt:lpstr>
      <vt:lpstr>Calibri</vt:lpstr>
      <vt:lpstr>Default Codex Theme</vt:lpstr>
      <vt:lpstr>大数据决策分析系统</vt:lpstr>
      <vt:lpstr>答辩内容</vt:lpstr>
      <vt:lpstr>支持医养服务统计分析</vt:lpstr>
      <vt:lpstr>系统分层架构</vt:lpstr>
      <vt:lpstr>18 张表支撑业务历史</vt:lpstr>
      <vt:lpstr>登录与权限设计</vt:lpstr>
      <vt:lpstr>首页与人口统计</vt:lpstr>
      <vt:lpstr>健康检测分析</vt:lpstr>
      <vt:lpstr>随访计划与完成率</vt:lpstr>
      <vt:lpstr>腕表与电子围栏</vt:lpstr>
      <vt:lpstr>轨迹注入｜难点突破</vt:lpstr>
      <vt:lpstr>V1.1 测试结果</vt:lpstr>
      <vt:lpstr>查询性能实测</vt:lpstr>
      <vt:lpstr>四人分工</vt:lpstr>
      <vt:lpstr>部署与团队验收</vt:lpstr>
      <vt:lpstr>项目收获与演示交流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智慧医养大数据决策分析系统</dc:title>
  <dc:creator>Walnut Exporter</dc:creator>
  <cp:lastModifiedBy>radwimps</cp:lastModifiedBy>
  <cp:revision>1</cp:revision>
  <dcterms:created xsi:type="dcterms:W3CDTF">2026-09-09T01:26:22Z</dcterms:created>
  <dcterms:modified xsi:type="dcterms:W3CDTF">2026-09-09T01:26:22Z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979E74850FAD4BC3BD6B5C1546B03051_12</vt:lpwstr>
  </property>
  <property fmtid="{D5CDD505-2E9C-101B-9397-08002B2CF9AE}" pid="3" name="KSOProductBuildVer">
    <vt:lpwstr>2052-12.1.0.28505</vt:lpwstr>
  </property>
</Properties>
</file>
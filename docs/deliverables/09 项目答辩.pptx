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ce710bee754c9d" /><Relationship Type="http://schemas.openxmlformats.org/officeDocument/2006/relationships/extended-properties" Target="/docProps/app.xml" Id="Rd1a5ba20fd764c06" /><Relationship Type="http://schemas.openxmlformats.org/officeDocument/2006/relationships/officeDocument" Target="/ppt/presentation.xml" Id="R3dbb0cff07b949b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cbbbe18172a4ac4"/>
  </p:sldMasterIdLst>
  <p:notesMasterIdLst>
    <p:notesMasterId xmlns:r="http://schemas.openxmlformats.org/officeDocument/2006/relationships" r:id="Raca4b79c8f554dd2"/>
  </p:notesMasterIdLst>
  <p:sldIdLst>
    <p:sldId xmlns:r="http://schemas.openxmlformats.org/officeDocument/2006/relationships" id="256" r:id="Rf063dae9e76f40c4"/>
    <p:sldId xmlns:r="http://schemas.openxmlformats.org/officeDocument/2006/relationships" id="257" r:id="Rab11341eb1c94d16"/>
    <p:sldId xmlns:r="http://schemas.openxmlformats.org/officeDocument/2006/relationships" id="258" r:id="R14153d86fccc448f"/>
    <p:sldId xmlns:r="http://schemas.openxmlformats.org/officeDocument/2006/relationships" id="259" r:id="Re543406f7a204983"/>
    <p:sldId xmlns:r="http://schemas.openxmlformats.org/officeDocument/2006/relationships" id="260" r:id="R60bf9ebc41cb4e0e"/>
    <p:sldId xmlns:r="http://schemas.openxmlformats.org/officeDocument/2006/relationships" id="261" r:id="Rd879194b180149fb"/>
    <p:sldId xmlns:r="http://schemas.openxmlformats.org/officeDocument/2006/relationships" id="262" r:id="R61f2238d5d3845b8"/>
    <p:sldId xmlns:r="http://schemas.openxmlformats.org/officeDocument/2006/relationships" id="263" r:id="R30575bfd96584a6e"/>
    <p:sldId xmlns:r="http://schemas.openxmlformats.org/officeDocument/2006/relationships" id="264" r:id="Re4182fa31a914f79"/>
    <p:sldId xmlns:r="http://schemas.openxmlformats.org/officeDocument/2006/relationships" id="265" r:id="Rdf3425b75b264ddd"/>
    <p:sldId xmlns:r="http://schemas.openxmlformats.org/officeDocument/2006/relationships" id="266" r:id="Rec05c7bbd1324960"/>
    <p:sldId xmlns:r="http://schemas.openxmlformats.org/officeDocument/2006/relationships" id="267" r:id="R333386e02c2940c5"/>
    <p:sldId xmlns:r="http://schemas.openxmlformats.org/officeDocument/2006/relationships" id="268" r:id="Rd61119bf03234898"/>
    <p:sldId xmlns:r="http://schemas.openxmlformats.org/officeDocument/2006/relationships" id="269" r:id="R35341fc3f0f54b70"/>
    <p:sldId xmlns:r="http://schemas.openxmlformats.org/officeDocument/2006/relationships" id="270" r:id="R11d1d18d0cc34587"/>
    <p:sldId xmlns:r="http://schemas.openxmlformats.org/officeDocument/2006/relationships" id="271" r:id="R3e7161ebac5045f1"/>
  </p:sldIdLst>
  <p:sldSz cx="12192000" cy="6858000"/>
  <p:notesSz cx="6858000" cy="9144000"/>
  <p:embeddedFontLst>
    <p:embeddedFont>
      <p:font typeface="Inter"/>
      <p:regular xmlns:r="http://schemas.openxmlformats.org/officeDocument/2006/relationships" r:id="Ra679f961762b4279"/>
      <p:bold xmlns:r="http://schemas.openxmlformats.org/officeDocument/2006/relationships" r:id="Re3ba9c7bff2f4f3c"/>
    </p:embeddedFont>
    <p:embeddedFont>
      <p:font typeface="Inter Medium"/>
      <p:regular xmlns:r="http://schemas.openxmlformats.org/officeDocument/2006/relationships" r:id="R348cd4a6657344e7"/>
    </p:embeddedFont>
    <p:embeddedFont>
      <p:font typeface="Inter SemiBold"/>
      <p:regular xmlns:r="http://schemas.openxmlformats.org/officeDocument/2006/relationships" r:id="Rc5336a83ef704240"/>
      <p:bold xmlns:r="http://schemas.openxmlformats.org/officeDocument/2006/relationships" r:id="R081454f26ec344df"/>
    </p:embeddedFont>
    <p:embeddedFont>
      <p:font typeface="OpenAI Sans"/>
      <p:regular xmlns:r="http://schemas.openxmlformats.org/officeDocument/2006/relationships" r:id="R6cab407e1f0840ba"/>
      <p:bold xmlns:r="http://schemas.openxmlformats.org/officeDocument/2006/relationships" r:id="R6832bd45b9ba4950"/>
      <p:italic xmlns:r="http://schemas.openxmlformats.org/officeDocument/2006/relationships" r:id="R782720f0aa1c4892"/>
      <p:boldItalic xmlns:r="http://schemas.openxmlformats.org/officeDocument/2006/relationships" r:id="Rc8b3054bb7074a7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9365fa1a994f83" /><Relationship Type="http://schemas.openxmlformats.org/officeDocument/2006/relationships/slideMaster" Target="/ppt/slideMasters/slideMaster1.xml" Id="R4cbbbe18172a4ac4" /><Relationship Type="http://schemas.openxmlformats.org/officeDocument/2006/relationships/notesMaster" Target="/ppt/notesMasters/notesMaster1.xml" Id="Raca4b79c8f554dd2" /><Relationship Type="http://schemas.openxmlformats.org/officeDocument/2006/relationships/presProps" Target="/ppt/presProps.xml" Id="R98d0b15502e242ec" /><Relationship Type="http://schemas.openxmlformats.org/officeDocument/2006/relationships/viewProps" Target="/ppt/viewProps.xml" Id="R11ddd7f7c0b94589" /><Relationship Type="http://schemas.openxmlformats.org/officeDocument/2006/relationships/tableStyles" Target="/ppt/tableStyles.xml" Id="R4fc35b7b4c5244aa" /><Relationship Type="http://schemas.openxmlformats.org/officeDocument/2006/relationships/font" Target="/ppt/fonts/font.dat" Id="Ra679f961762b4279" /><Relationship Type="http://schemas.openxmlformats.org/officeDocument/2006/relationships/font" Target="/ppt/fonts/font2.dat" Id="Re3ba9c7bff2f4f3c" /><Relationship Type="http://schemas.openxmlformats.org/officeDocument/2006/relationships/font" Target="/ppt/fonts/font3.dat" Id="R348cd4a6657344e7" /><Relationship Type="http://schemas.openxmlformats.org/officeDocument/2006/relationships/font" Target="/ppt/fonts/font4.dat" Id="Rc5336a83ef704240" /><Relationship Type="http://schemas.openxmlformats.org/officeDocument/2006/relationships/font" Target="/ppt/fonts/font5.dat" Id="R081454f26ec344df" /><Relationship Type="http://schemas.openxmlformats.org/officeDocument/2006/relationships/font" Target="/ppt/fonts/font6.dat" Id="R6cab407e1f0840ba" /><Relationship Type="http://schemas.openxmlformats.org/officeDocument/2006/relationships/font" Target="/ppt/fonts/font7.dat" Id="R6832bd45b9ba4950" /><Relationship Type="http://schemas.openxmlformats.org/officeDocument/2006/relationships/font" Target="/ppt/fonts/font8.dat" Id="R782720f0aa1c4892" /><Relationship Type="http://schemas.openxmlformats.org/officeDocument/2006/relationships/font" Target="/ppt/fonts/font9.dat" Id="Rc8b3054bb7074a79" /><Relationship Type="http://schemas.openxmlformats.org/officeDocument/2006/relationships/slide" Target="/ppt/slides/slide1.xml" Id="Rf063dae9e76f40c4" /><Relationship Type="http://schemas.openxmlformats.org/officeDocument/2006/relationships/slide" Target="/ppt/slides/slide2.xml" Id="Rab11341eb1c94d16" /><Relationship Type="http://schemas.openxmlformats.org/officeDocument/2006/relationships/slide" Target="/ppt/slides/slide3.xml" Id="R14153d86fccc448f" /><Relationship Type="http://schemas.openxmlformats.org/officeDocument/2006/relationships/slide" Target="/ppt/slides/slide4.xml" Id="Re543406f7a204983" /><Relationship Type="http://schemas.openxmlformats.org/officeDocument/2006/relationships/slide" Target="/ppt/slides/slide5.xml" Id="R60bf9ebc41cb4e0e" /><Relationship Type="http://schemas.openxmlformats.org/officeDocument/2006/relationships/slide" Target="/ppt/slides/slide6.xml" Id="Rd879194b180149fb" /><Relationship Type="http://schemas.openxmlformats.org/officeDocument/2006/relationships/slide" Target="/ppt/slides/slide7.xml" Id="R61f2238d5d3845b8" /><Relationship Type="http://schemas.openxmlformats.org/officeDocument/2006/relationships/slide" Target="/ppt/slides/slide8.xml" Id="R30575bfd96584a6e" /><Relationship Type="http://schemas.openxmlformats.org/officeDocument/2006/relationships/slide" Target="/ppt/slides/slide9.xml" Id="Re4182fa31a914f79" /><Relationship Type="http://schemas.openxmlformats.org/officeDocument/2006/relationships/slide" Target="/ppt/slides/slide10.xml" Id="Rdf3425b75b264ddd" /><Relationship Type="http://schemas.openxmlformats.org/officeDocument/2006/relationships/slide" Target="/ppt/slides/slide11.xml" Id="Rec05c7bbd1324960" /><Relationship Type="http://schemas.openxmlformats.org/officeDocument/2006/relationships/slide" Target="/ppt/slides/slide12.xml" Id="R333386e02c2940c5" /><Relationship Type="http://schemas.openxmlformats.org/officeDocument/2006/relationships/slide" Target="/ppt/slides/slide13.xml" Id="Rd61119bf03234898" /><Relationship Type="http://schemas.openxmlformats.org/officeDocument/2006/relationships/slide" Target="/ppt/slides/slide14.xml" Id="R35341fc3f0f54b70" /><Relationship Type="http://schemas.openxmlformats.org/officeDocument/2006/relationships/slide" Target="/ppt/slides/slide15.xml" Id="R11d1d18d0cc34587" /><Relationship Type="http://schemas.openxmlformats.org/officeDocument/2006/relationships/slide" Target="/ppt/slides/slide16.xml" Id="R3e7161ebac50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09a3bd830f4d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f17420bd564ae7" /><Relationship Type="http://schemas.openxmlformats.org/officeDocument/2006/relationships/notesMaster" Target="/ppt/notesMasters/notesMaster1.xml" Id="R7715f258dd414a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46a5ccb934472c" /><Relationship Type="http://schemas.openxmlformats.org/officeDocument/2006/relationships/notesMaster" Target="/ppt/notesMasters/notesMaster1.xml" Id="R10d3385a167447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3b47440f7642f4" /><Relationship Type="http://schemas.openxmlformats.org/officeDocument/2006/relationships/notesMaster" Target="/ppt/notesMasters/notesMaster1.xml" Id="Rf93a439e2033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bdb35fddba4da4" /><Relationship Type="http://schemas.openxmlformats.org/officeDocument/2006/relationships/notesMaster" Target="/ppt/notesMasters/notesMaster1.xml" Id="R57346b3bb85541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cb401f6a924957" /><Relationship Type="http://schemas.openxmlformats.org/officeDocument/2006/relationships/notesMaster" Target="/ppt/notesMasters/notesMaster1.xml" Id="Rdf3a33b9ee274e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7f8aec8eec4d9f" /><Relationship Type="http://schemas.openxmlformats.org/officeDocument/2006/relationships/notesMaster" Target="/ppt/notesMasters/notesMaster1.xml" Id="R105dedd3d1f64c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121b8d50304159" /><Relationship Type="http://schemas.openxmlformats.org/officeDocument/2006/relationships/notesMaster" Target="/ppt/notesMasters/notesMaster1.xml" Id="Rea175fc230d841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9f62efdf534d68" /><Relationship Type="http://schemas.openxmlformats.org/officeDocument/2006/relationships/notesMaster" Target="/ppt/notesMasters/notesMaster1.xml" Id="R93c420deb4ef48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5d263e00814ca1" /><Relationship Type="http://schemas.openxmlformats.org/officeDocument/2006/relationships/notesMaster" Target="/ppt/notesMasters/notesMaster1.xml" Id="R7583316606ab4f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ed1972564a466e" /><Relationship Type="http://schemas.openxmlformats.org/officeDocument/2006/relationships/notesMaster" Target="/ppt/notesMasters/notesMaster1.xml" Id="R437276dc256941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edba95af1a4c67" /><Relationship Type="http://schemas.openxmlformats.org/officeDocument/2006/relationships/notesMaster" Target="/ppt/notesMasters/notesMaster1.xml" Id="R49e30d311fe54b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94a97191734afa" /><Relationship Type="http://schemas.openxmlformats.org/officeDocument/2006/relationships/notesMaster" Target="/ppt/notesMasters/notesMaster1.xml" Id="R20c0ccfef3b641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9985ae939e4928" /><Relationship Type="http://schemas.openxmlformats.org/officeDocument/2006/relationships/notesMaster" Target="/ppt/notesMasters/notesMaster1.xml" Id="R5fc28481adea48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933b26b4194dbf" /><Relationship Type="http://schemas.openxmlformats.org/officeDocument/2006/relationships/notesMaster" Target="/ppt/notesMasters/notesMaster1.xml" Id="Rc8fedb4a89094f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0ff543b2d24891" /><Relationship Type="http://schemas.openxmlformats.org/officeDocument/2006/relationships/notesMaster" Target="/ppt/notesMasters/notesMaster1.xml" Id="R8578d7d723e149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40d0ccec624931" /><Relationship Type="http://schemas.openxmlformats.org/officeDocument/2006/relationships/notesMaster" Target="/ppt/notesMasters/notesMaster1.xml" Id="R79fea0ef245f41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项目全称为智慧医养大数据公共服务平台大数据决策分析系统。V1.1 增加数据模拟、批量轨迹、受限删除和通用设备 GPS 接入。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来源：本项目源代码与已确认的需求。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需求来自用户提供的医养结合示范项目背景。本项目不宣称获得示范认定。十项验收功能由原八项功能加数据模拟、通用 GPS/心跳接入组成。真实厂商协议、道路地图与临床诊断不属于课程版。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实现依据：pom.xml、frontend/package.json、frontend/src、src/main/java、StatisticsMapper.xml。Element Plus 2.14.5 在数据模拟页按需使用；ECharts 6 不是项目必选约束。Spring Boot 固定 3.5.16，Java 编译目标 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字段及索引的权威来源：database/01-schema.sql；详细字典见 02 数据库设计说明书。V1.0 已有库升级到 V1.1 时使用 03-device-ingest-upgrade.sql 增加两张表。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SecurityConfig、AuthController、AccountPrincipal、CareService、DeviceAccessService。前端隐藏入口只改善操作体验，权限由服务端判断。设备接口不使用 Cookie，通过 HTTPS 和 X-Device-Key 认证。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项目运行截图，虚构演示数据。人口数据按当前在册档案统计，不是历史快照。人口页面见 03-population.png。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项目运行截图。所有健康阈值仅为教学参数，不作为临床诊断或治疗依据。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 StatisticsMapper.xml followupWhere/followupColumns 和 CareService.complete。统计使用 [start,end)，取消时间与完成时间按截止时刻判断。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项目实际截图。WGS84，圆形半径 50～5000 米。离线画布没有道路底图。设备在线由心跳时间决定。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V1.1 项目实际截图，虚构演示数据。难点在于批量事务、轨迹时间顺序、绑定历史归属和围栏状态的一致处理。数据模拟入口只在 demo 环境对管理员开放。真实设备使用独立密钥调用定位与心跳接口。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数据来源：docs/evidence/maven-tests.json、http-smoke-v11.json、v11-http-qa.json、v11-browser-qa.json、mysql-v11-schema.json，2026-09-08。三类计数是不同测试集合，不相加作为唯一需求覆盖数。JDK 17 和 IDEA 内置 JUnit 未实测。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docs/evidence/performance.json。2026-09-08，i7-13650HX，Windows 11，Zulu 25.0.1，MySQL 8.0.46。各端点样本数 662/665/670/667，P95 363.27/386.37/1104.8/744.57 ms。默认近 30 天，无地区筛选，分页 20。只读负载，不代表并发写入；新增数据已清理。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周虹宏 202417020210；钟毓林 202417020128；胡吉涵 202417020202；李治宏 202417020205。当前功能不需要独立 Agent 工程师；新增自然语言问答等明确需求后再评估岗位。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 scripts/build.ps1、scripts/start.ps1、database/03-device-ingest-upgrade.sql 和 11 项目部署环境说明书。Windows 重新打包前应停止运行中的同一 JAR。已识别本机 IDEA 2024.3.4，但尚未记录在该 IDE 内右键运行 JUnit 的结果。当前仅本地部署，公网 HTTPS 与恢复演练未执行。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项目感受：完整交付不止是页面和接口，还需要需求口径、数据库约束、测试证据、部署文档与团队协作保持一致。V1.1 已实现数据模拟、批量轨迹、受限删除和通用 GPS 接口。当前边界：虚构数据、离线坐标、单单位部署。交付代码、SQL、10 份 Word、1 份 PPT。人工验收签收仍需团队按实际填写。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954404d7645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3bc63905c4a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4e7f1e93f41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ed7b64d6d46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e8476e68648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c037f644e415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2b24cd72d4b9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e3c6656b14b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9f02e406a4dcc" /><Relationship Type="http://schemas.openxmlformats.org/officeDocument/2006/relationships/image" Target="/ppt/media/image.png" Id="Rf4f13affdee145d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4fbd69318465f" /><Relationship Type="http://schemas.openxmlformats.org/officeDocument/2006/relationships/image" Target="/ppt/media/image2.png" Id="Ra71781214249485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f4f13affdee145d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a71781214249485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a66934d2c24b97" /><Relationship Type="http://schemas.openxmlformats.org/officeDocument/2006/relationships/slideLayout" Target="/ppt/slideLayouts/slideLayout1.xml" Id="R51498a637c584880" /><Relationship Type="http://schemas.openxmlformats.org/officeDocument/2006/relationships/slideLayout" Target="/ppt/slideLayouts/slideLayout2.xml" Id="R36ac3c5bc4a145c6" /><Relationship Type="http://schemas.openxmlformats.org/officeDocument/2006/relationships/slideLayout" Target="/ppt/slideLayouts/slideLayout3.xml" Id="Rbcd07927af58480d" /><Relationship Type="http://schemas.openxmlformats.org/officeDocument/2006/relationships/slideLayout" Target="/ppt/slideLayouts/slideLayout4.xml" Id="R46a61ca64904458b" /><Relationship Type="http://schemas.openxmlformats.org/officeDocument/2006/relationships/slideLayout" Target="/ppt/slideLayouts/slideLayout5.xml" Id="Ra5bb1e8cc22d4e00" /><Relationship Type="http://schemas.openxmlformats.org/officeDocument/2006/relationships/slideLayout" Target="/ppt/slideLayouts/slideLayout6.xml" Id="R6794e12df16b4b77" /><Relationship Type="http://schemas.openxmlformats.org/officeDocument/2006/relationships/slideLayout" Target="/ppt/slideLayouts/slideLayout7.xml" Id="R1e57916e041b4221" /><Relationship Type="http://schemas.openxmlformats.org/officeDocument/2006/relationships/slideLayout" Target="/ppt/slideLayouts/slideLayout8.xml" Id="R63bea875a18e428c" /><Relationship Type="http://schemas.openxmlformats.org/officeDocument/2006/relationships/slideLayout" Target="/ppt/slideLayouts/slideLayout9.xml" Id="R9ffad6ee53c740f6" /><Relationship Type="http://schemas.openxmlformats.org/officeDocument/2006/relationships/slideLayout" Target="/ppt/slideLayouts/slideLayout10.xml" Id="Raaa17a0424bd41f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498a637c584880"/>
    <p:sldLayoutId xmlns:r="http://schemas.openxmlformats.org/officeDocument/2006/relationships" id="2147483650" r:id="R36ac3c5bc4a145c6"/>
    <p:sldLayoutId xmlns:r="http://schemas.openxmlformats.org/officeDocument/2006/relationships" id="2147483651" r:id="Rbcd07927af58480d"/>
    <p:sldLayoutId xmlns:r="http://schemas.openxmlformats.org/officeDocument/2006/relationships" id="2147483652" r:id="R46a61ca64904458b"/>
    <p:sldLayoutId xmlns:r="http://schemas.openxmlformats.org/officeDocument/2006/relationships" id="2147483653" r:id="Ra5bb1e8cc22d4e00"/>
    <p:sldLayoutId xmlns:r="http://schemas.openxmlformats.org/officeDocument/2006/relationships" id="2147483654" r:id="R6794e12df16b4b77"/>
    <p:sldLayoutId xmlns:r="http://schemas.openxmlformats.org/officeDocument/2006/relationships" id="2147483655" r:id="R1e57916e041b4221"/>
    <p:sldLayoutId xmlns:r="http://schemas.openxmlformats.org/officeDocument/2006/relationships" id="2147483656" r:id="R63bea875a18e428c"/>
    <p:sldLayoutId xmlns:r="http://schemas.openxmlformats.org/officeDocument/2006/relationships" id="2147483657" r:id="R9ffad6ee53c740f6"/>
    <p:sldLayoutId xmlns:r="http://schemas.openxmlformats.org/officeDocument/2006/relationships" id="2147483658" r:id="Raaa17a0424bd41f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44f754e864fc6" /><Relationship Type="http://schemas.openxmlformats.org/officeDocument/2006/relationships/image" Target="/ppt/media/image3.png" Id="Rc7840bf172f04a77" /><Relationship Type="http://schemas.openxmlformats.org/officeDocument/2006/relationships/notesSlide" Target="/ppt/notesSlides/notesSlide1.xml" Id="Rcd7d0fdbf5f34f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58c9fc20b412f" /><Relationship Type="http://schemas.openxmlformats.org/officeDocument/2006/relationships/notesSlide" Target="/ppt/notesSlides/notesSlide2.xml" Id="R323a6a8fe6e94b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765fe1a5e4cee" /><Relationship Type="http://schemas.openxmlformats.org/officeDocument/2006/relationships/notesSlide" Target="/ppt/notesSlides/notesSlide3.xml" Id="R36aecb541de042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4133979682044eb" /><Relationship Type="http://schemas.openxmlformats.org/officeDocument/2006/relationships/notesSlide" Target="/ppt/notesSlides/notesSlide4.xml" Id="Ra217da59476644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4e50dfff9466f" /><Relationship Type="http://schemas.openxmlformats.org/officeDocument/2006/relationships/notesSlide" Target="/ppt/notesSlides/notesSlide5.xml" Id="R646bfc361cd145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5f13595f4f43e7" /><Relationship Type="http://schemas.openxmlformats.org/officeDocument/2006/relationships/notesSlide" Target="/ppt/notesSlides/notesSlide6.xml" Id="R9e4de7a50a6443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2381976d144efc" /><Relationship Type="http://schemas.openxmlformats.org/officeDocument/2006/relationships/image" Target="/ppt/media/image4.png" Id="Ra6897a02051d4fa2" /><Relationship Type="http://schemas.openxmlformats.org/officeDocument/2006/relationships/notesSlide" Target="/ppt/notesSlides/notesSlide7.xml" Id="R041abb50cd4d40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a12da009aa4c3a" /><Relationship Type="http://schemas.openxmlformats.org/officeDocument/2006/relationships/image" Target="/ppt/media/image5.png" Id="R21914a5c98b34dcb" /><Relationship Type="http://schemas.openxmlformats.org/officeDocument/2006/relationships/notesSlide" Target="/ppt/notesSlides/notesSlide8.xml" Id="R2c9c1e190c8042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036532c174928" /><Relationship Type="http://schemas.openxmlformats.org/officeDocument/2006/relationships/notesSlide" Target="/ppt/notesSlides/notesSlide9.xml" Id="R2f5547b12e5d4c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d34c761bbb4994" /><Relationship Type="http://schemas.openxmlformats.org/officeDocument/2006/relationships/image" Target="/ppt/media/image6.png" Id="R9c3d9201c2364409" /><Relationship Type="http://schemas.openxmlformats.org/officeDocument/2006/relationships/notesSlide" Target="/ppt/notesSlides/notesSlide10.xml" Id="R55294e1543d745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d42e6239bd43b1" /><Relationship Type="http://schemas.openxmlformats.org/officeDocument/2006/relationships/image" Target="/ppt/media/image7.png" Id="R9eed979b779b4fa2" /><Relationship Type="http://schemas.openxmlformats.org/officeDocument/2006/relationships/notesSlide" Target="/ppt/notesSlides/notesSlide11.xml" Id="R636c553608b341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0f65319b24c49" /><Relationship Type="http://schemas.openxmlformats.org/officeDocument/2006/relationships/chart" Target="/ppt/slides/charts/chart1.xml" Id="R42ca03578fb942e5" /><Relationship Type="http://schemas.openxmlformats.org/officeDocument/2006/relationships/notesSlide" Target="/ppt/notesSlides/notesSlide12.xml" Id="R69fcfb89c4c14a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35897fedf44ee" /><Relationship Type="http://schemas.openxmlformats.org/officeDocument/2006/relationships/chart" Target="/ppt/slides/charts/chart2.xml" Id="R4afb8b8e54714f2c" /><Relationship Type="http://schemas.openxmlformats.org/officeDocument/2006/relationships/notesSlide" Target="/ppt/notesSlides/notesSlide13.xml" Id="R9d6c01f4b74c48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f2dc40b3db497e" /><Relationship Type="http://schemas.openxmlformats.org/officeDocument/2006/relationships/notesSlide" Target="/ppt/notesSlides/notesSlide14.xml" Id="Rd3aa21a3140e41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b7c4f2ea79f4555" /><Relationship Type="http://schemas.openxmlformats.org/officeDocument/2006/relationships/notesSlide" Target="/ppt/notesSlides/notesSlide15.xml" Id="R9e9f8848856440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609042045432d" /><Relationship Type="http://schemas.openxmlformats.org/officeDocument/2006/relationships/image" Target="/ppt/media/image3.png" Id="R4b83623cb3414ca5" /><Relationship Type="http://schemas.openxmlformats.org/officeDocument/2006/relationships/notesSlide" Target="/ppt/notesSlides/notesSlide16.xml" Id="R41009f89b009479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通过项数</c:v>
          </c:tx>
          <c:spPr>
            <a:solidFill xmlns:a="http://schemas.openxmlformats.org/drawingml/2006/main">
              <a:srgbClr val="5EC4FF"/>
            </a:solidFill>
          </c:spPr>
          <c:cat>
            <c:strRef>
              <c:f>'Chart Data'!$A$2:$A$4</c:f>
              <c:strCache>
                <c:ptCount val="3"/>
                <c:pt idx="0">
                  <c:v>Maven</c:v>
                </c:pt>
                <c:pt idx="1">
                  <c:v>HTTP</c:v>
                </c:pt>
                <c:pt idx="2">
                  <c:v>页面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28</c:v>
                </c:pt>
                <c:pt idx="1">
                  <c:v>21</c:v>
                </c:pt>
                <c:pt idx="2">
                  <c:v>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通过项数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P95 毫秒</c:v>
          </c:tx>
          <c:spPr>
            <a:solidFill xmlns:a="http://schemas.openxmlformats.org/drawingml/2006/main">
              <a:srgbClr val="5EC4FF"/>
            </a:solidFill>
          </c:spPr>
          <c:cat>
            <c:strRef>
              <c:f>'Chart Data'!$A$2:$A$5</c:f>
              <c:strCache>
                <c:ptCount val="4"/>
                <c:pt idx="0">
                  <c:v>健康明细</c:v>
                </c:pt>
                <c:pt idx="1">
                  <c:v>健康统计</c:v>
                </c:pt>
                <c:pt idx="2">
                  <c:v>首页</c:v>
                </c:pt>
                <c:pt idx="3">
                  <c:v>设备分布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363.27</c:v>
                </c:pt>
                <c:pt idx="1">
                  <c:v>386.37</c:v>
                </c:pt>
                <c:pt idx="2">
                  <c:v>1104.8</c:v>
                </c:pt>
                <c:pt idx="3">
                  <c:v>744.57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00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P95 毫秒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4650">
                <a:latin typeface="Inter"/>
                <a:ea typeface="Inter"/>
                <a:cs typeface="Inter"/>
              </a:defRPr>
            </a:pPr>
            <a:r>
              <a:rPr sz="4650">
                <a:solidFill>
                  <a:schemeClr val="accent6">
                    <a:lumMod val="75000"/>
                  </a:schemeClr>
                </a:solidFill>
                <a:latin typeface="Inter"/>
                <a:ea typeface="Inter"/>
                <a:cs typeface="Inter"/>
              </a:rPr>
              <a:t>智慧医养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4650">
                <a:latin typeface="Inter"/>
                <a:ea typeface="Inter"/>
                <a:cs typeface="Inter"/>
              </a:defRPr>
            </a:pPr>
            <a:r>
              <a:rPr sz="4650">
                <a:solidFill>
                  <a:schemeClr val="accent6">
                    <a:lumMod val="75000"/>
                  </a:schemeClr>
                </a:solidFill>
                <a:latin typeface="Inter"/>
                <a:ea typeface="Inter"/>
                <a:cs typeface="Inter"/>
              </a:rPr>
              <a:t>大数据决策分析系统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latin typeface="Inter"/>
                <a:ea typeface="Inter"/>
                <a:cs typeface="Inter"/>
              </a:defRPr>
            </a:pPr>
            <a:r>
              <a:rPr sz="1800">
                <a:latin typeface="Inter"/>
                <a:ea typeface="Inter"/>
                <a:cs typeface="Inter"/>
              </a:rPr>
              <a:t>V1.1 课程项目答辩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latin typeface="Inter"/>
                <a:ea typeface="Inter"/>
                <a:cs typeface="Inter"/>
              </a:defRPr>
            </a:pPr>
            <a:r>
              <a:rPr sz="1800">
                <a:latin typeface="Inter"/>
                <a:ea typeface="Inter"/>
                <a:cs typeface="Inter"/>
              </a:rPr>
              <a:t>周虹宏 · 钟毓林 · 胡吉涵 · 李治宏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40bf172f04a77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答辩内容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"/>
                          <a:ea typeface="Inter"/>
                          <a:cs typeface="Inter"/>
                        </a:rPr>
                        <a:t>项目范围与技术架构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"/>
                          <a:ea typeface="Inter"/>
                          <a:cs typeface="Inter"/>
                        </a:rPr>
                        <a:t>数据模型与权限设计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"/>
                          <a:ea typeface="Inter"/>
                          <a:cs typeface="Inter"/>
                        </a:rPr>
                        <a:t>十项功能与数据接入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"/>
                          <a:ea typeface="Inter"/>
                          <a:cs typeface="Inter"/>
                        </a:rPr>
                        <a:t>测试与性能验证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"/>
                          <a:ea typeface="Inter"/>
                          <a:cs typeface="Inter"/>
                        </a:rPr>
                        <a:t>四人分工与部署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2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"/>
                          <a:ea typeface="Inter"/>
                          <a:cs typeface="Inter"/>
                        </a:rPr>
                        <a:t>当前边界与后续工作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150">
                <a:latin typeface="Inter"/>
                <a:ea typeface="Inter"/>
                <a:cs typeface="Inter"/>
              </a:defRPr>
            </a:pPr>
            <a:r>
              <a:rPr sz="3150">
                <a:latin typeface="Inter"/>
                <a:ea typeface="Inter"/>
                <a:cs typeface="Inter"/>
              </a:rPr>
              <a:t>整合老人档案、健康检测、</a:t>
            </a:r>
            <a:endParaRPr sz="4800"/>
          </a:p>
          <a:p xmlns:a="http://schemas.openxmlformats.org/drawingml/2006/main">
            <a:pPr>
              <a:lnSpc>
                <a:spcPct val="118000"/>
              </a:lnSpc>
              <a:buNone/>
              <a:defRPr sz="3150">
                <a:latin typeface="Inter"/>
                <a:ea typeface="Inter"/>
                <a:cs typeface="Inter"/>
              </a:defRPr>
            </a:pPr>
            <a:r>
              <a:rPr sz="3150">
                <a:latin typeface="Inter"/>
                <a:ea typeface="Inter"/>
                <a:cs typeface="Inter"/>
              </a:rPr>
              <a:t>医生随访和腕表定位，</a:t>
            </a:r>
            <a:endParaRPr sz="4800"/>
          </a:p>
          <a:p xmlns:a="http://schemas.openxmlformats.org/drawingml/2006/main">
            <a:pPr>
              <a:lnSpc>
                <a:spcPct val="118000"/>
              </a:lnSpc>
              <a:buNone/>
              <a:defRPr sz="3150">
                <a:latin typeface="Inter"/>
                <a:ea typeface="Inter"/>
                <a:cs typeface="Inter"/>
              </a:defRPr>
            </a:pPr>
            <a:r>
              <a:rPr sz="3150">
                <a:latin typeface="Inter"/>
                <a:ea typeface="Inter"/>
                <a:cs typeface="Inter"/>
              </a:rPr>
              <a:t>支持医养服务统计分析</a:t>
            </a:r>
            <a:endParaRPr sz="4800"/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功能范围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十项验收功能。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批量轨迹和受限删除为现有功能增强。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设备接入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独立密钥保护定位与心跳。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厂商协议适配待真实样机。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1C1C27E6-B24A-134D-A33B-2CE33CAE57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展示层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Vue 3 与 Element Plus 组件。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GeoCanvas 负责坐标交互，ECharts 为当前图表实现。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服务层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Spring MVC 接口、Spring 事务。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Spring Security 管理会话与权限。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系统分层架构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数据访问层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MyBatis-Plus 处理基础 CRUD。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MyBatis XML 完成聚合统计。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存储与构建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MySQL 保存 18 张业务表。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Maven 将前后端打成可执行 JAR。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18 张表支撑业务历史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数据模型</a:t>
            </a:r>
          </a:p>
          <a:p xmlns:a="http://schemas.openxmlformats.org/drawingml/2006/main"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档案关联业务记录，设备凭据只存摘要，定位与心跳使用事件编号防重。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Inter"/>
                          <a:ea typeface="Inter"/>
                          <a:cs typeface="Inter"/>
                        </a:rPr>
                        <a:t>数据组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125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Inter"/>
                          <a:ea typeface="Inter"/>
                          <a:cs typeface="Inter"/>
                        </a:rPr>
                        <a:t>实体一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Inter"/>
                          <a:ea typeface="Inter"/>
                          <a:cs typeface="Inter"/>
                        </a:rPr>
                        <a:t>实体二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125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Inter"/>
                          <a:ea typeface="Inter"/>
                          <a:cs typeface="Inter"/>
                        </a:rPr>
                        <a:t>关联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125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Inter"/>
                          <a:ea typeface="Inter"/>
                          <a:cs typeface="Inter"/>
                        </a:rPr>
                        <a:t>核心约束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身份地区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sys_user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region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账号与地区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三角色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服务对象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elder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doctor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档案主数据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业务编码唯一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健康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health_rule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health_record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规则快照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来源事件唯一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随访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followup_plan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followup_record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一对零或一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计划唯一完成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设备绑定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watch_device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device_binding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历史关联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有效绑定唯一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空间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location_point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geofence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点与圆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坐标半径校验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围栏监测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geofence_member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geofence_state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一对零或一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成员状态唯一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设备接入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device_credential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device_heartbeat_event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密钥与心跳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</a:rPr>
                        <a:t>摘要存储和事件唯一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三种角色，后端统一鉴权</a:t>
            </a: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登录与权限设计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服务端 Session 与 CSRF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ADMIN 管理账号、数据模拟、误录删除和密钥签发。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OPERATOR 维护业务，ANALYST 只读。角色或密码变化后旧会话失效。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电话响应脱敏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保留最后管理员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写入字段白名单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设备接口独立密钥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总览与人口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按地区、日期查看服务概况。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人口按年龄、性别和地区分组，未知信息单独统计。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卡片与明细由实际 API 提供。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首页与人口统计</a:t>
            </a:r>
            <a:endParaRPr/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97a02051d4fa2"/>
          <a:stretch xmlns:a="http://schemas.openxmlformats.org/drawingml/2006/main"/>
        </p:blipFill>
        <p:spPr>
          <a:xfrm xmlns:a="http://schemas.openxmlformats.org/drawingml/2006/main">
            <a:off x="4305300" y="592062"/>
            <a:ext cx="7503509" cy="5210770"/>
          </a:xfrm>
          <a:prstGeom xmlns:a="http://schemas.openxmlformats.org/drawingml/2006/main" prst="roundRect">
            <a:avLst>
              <a:gd name="adj" fmla="val 1360"/>
            </a:avLst>
          </a:prstGeom>
        </p:spPr>
      </p:pic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检测与趋势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区分检测次数、检测人数和异常人数。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保存教学规则版本与快照，缺测保持为空。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支持单个老人的指标趋势。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健康检测分析</a:t>
            </a:r>
            <a:endParaRPr/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14a5c98b34dcb"/>
          <a:stretch xmlns:a="http://schemas.openxmlformats.org/drawingml/2006/main"/>
        </p:blipFill>
        <p:spPr>
          <a:xfrm xmlns:a="http://schemas.openxmlformats.org/drawingml/2006/main">
            <a:off x="4305300" y="592062"/>
            <a:ext cx="7503509" cy="5210770"/>
          </a:xfrm>
          <a:prstGeom xmlns:a="http://schemas.openxmlformats.org/drawingml/2006/main" prst="roundRect">
            <a:avLst>
              <a:gd name="adj" fmla="val 1360"/>
            </a:avLst>
          </a:prstGeom>
        </p:spPr>
      </p:pic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随访计划与完成率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计划按到期时间进入分母。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截至查询截止时完成的计划进入分子。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创建计划</a:t>
            </a:r>
          </a:p>
          <a:p xmlns:a="http://schemas.openxmlformats.org/drawingml/2006/main">
            <a:pPr marL="228600" lvl="0" indent="-22860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完成或取消</a:t>
            </a:r>
          </a:p>
          <a:p xmlns:a="http://schemas.openxmlformats.org/drawingml/2006/main">
            <a:pPr marL="228600" lvl="0" indent="-22860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保留历史结果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零分母返回空值。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页面显示无计划，避免显示虚假的 100%。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逾期未完成</a:t>
            </a:r>
          </a:p>
          <a:p xmlns:a="http://schemas.openxmlformats.org/drawingml/2006/main">
            <a:pPr marL="228600" lvl="0" indent="-22860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逾期完成</a:t>
            </a:r>
          </a:p>
          <a:p xmlns:a="http://schemas.openxmlformats.org/drawingml/2006/main">
            <a:pPr marL="228600" lvl="0" indent="-22860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取消单列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统计口径</a:t>
            </a:r>
          </a:p>
          <a:p xmlns:a="http://schemas.openxmlformats.org/drawingml/2006/main"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同一计划最多一条完成记录。完成操作在事务中锁定计划、写结果并更新状态。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完成率 = 已完成计划数 ÷ 有效应随访计划数。截止时刻取查询结束与当前时间的较早值。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设备与越界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设备绑定老人，定位保留发生时的绑定历史。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圆形围栏用球面距离判断越界，连续在外只产生一次事件。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人工处理和实际返回分别记录。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腕表与电子围栏</a:t>
            </a:r>
            <a:endParaRPr/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d9201c2364409"/>
          <a:stretch xmlns:a="http://schemas.openxmlformats.org/drawingml/2006/main"/>
        </p:blipFill>
        <p:spPr>
          <a:xfrm xmlns:a="http://schemas.openxmlformats.org/drawingml/2006/main">
            <a:off x="4305300" y="592062"/>
            <a:ext cx="7503509" cy="5210770"/>
          </a:xfrm>
          <a:prstGeom xmlns:a="http://schemas.openxmlformats.org/drawingml/2006/main" prst="roundRect">
            <a:avLst>
              <a:gd name="adj" fmla="val 1360"/>
            </a:avLst>
          </a:prstGeom>
        </p:spPr>
      </p:pic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定位模拟与回放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管理员生成单点、直线、圆形或越界返回轨迹。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单批最多 500 点，先预览再注入。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回放支持暂停、倍速和进度调整。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轨迹注入｜难点突破</a:t>
            </a:r>
            <a:endParaRPr/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d979b779b4fa2"/>
          <a:stretch xmlns:a="http://schemas.openxmlformats.org/drawingml/2006/main"/>
        </p:blipFill>
        <p:spPr>
          <a:xfrm xmlns:a="http://schemas.openxmlformats.org/drawingml/2006/main">
            <a:off x="4305300" y="592062"/>
            <a:ext cx="7503509" cy="5210770"/>
          </a:xfrm>
          <a:prstGeom xmlns:a="http://schemas.openxmlformats.org/drawingml/2006/main" prst="roundRect">
            <a:avLst>
              <a:gd name="adj" fmla="val 1360"/>
            </a:avLst>
          </a:prstGeom>
        </p:spPr>
      </p:pic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V1.1 测试结果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MySQL 联调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16 项基础冒烟与 5 项新增写路径通过。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16 表升级后为 18 表，哨兵数据保留。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937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688632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Maven 回归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28 项通过，覆盖批量定位、受限删除、心跳幂等与设备密钥。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8153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7646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浏览器检查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原 12 项基线保留，新增功能 4 项通过。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含 390 像素窄屏。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44" name="Chart"/>
          <p:cNvGraphicFramePr/>
          <p:nvPr/>
        </p:nvGraphicFramePr>
        <p:xfrm>
          <a:off xmlns:a="http://schemas.openxmlformats.org/drawingml/2006/main" x="408718" y="1143000"/>
          <a:ext xmlns:a="http://schemas.openxmlformats.org/drawingml/2006/main" cx="5124164" cy="5048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ca03578fb942e5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6973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查询性能实测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500">
                <a:latin typeface="Inter"/>
                <a:ea typeface="Inter"/>
                <a:cs typeface="Inter"/>
              </a:defRPr>
            </a:pPr>
            <a:r>
              <a:rPr sz="450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2664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本次请求数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20 个并发线程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500">
                <a:latin typeface="Inter"/>
                <a:ea typeface="Inter"/>
                <a:cs typeface="Inter"/>
              </a:defRPr>
            </a:pPr>
            <a:r>
              <a:rPr sz="450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0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请求错误数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四端点均达标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101080 条健康记录、100648 条定位记录。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latin typeface="Inter"/>
                <a:ea typeface="Inter"/>
                <a:cs typeface="Inter"/>
              </a:rPr>
              <a:t>持续约 60 秒，四类查询 P95 均低于 2 秒。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fb8b8e54714f2c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周虹宏｜项目经理兼测试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需求、计划、例会、用例、日志。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组织验收并汇总答辩。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钟毓林｜后端工程师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认证、档案、健康与随访。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维护业务测试与接口说明。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四人分工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胡吉涵｜后端兼数据工程师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SQL、设备接入、围栏与轨迹。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承担性能验证与部署。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李治宏｜前端工程师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Vue 页面、图表和数据模拟。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650">
                <a:latin typeface="Inter"/>
                <a:ea typeface="Inter"/>
                <a:cs typeface="Inter"/>
              </a:defRPr>
            </a:pPr>
            <a:r>
              <a:rPr sz="1650">
                <a:solidFill>
                  <a:prstClr val="black"/>
                </a:solidFill>
                <a:latin typeface="Inter"/>
                <a:ea typeface="Inter"/>
                <a:cs typeface="Inter"/>
              </a:rPr>
              <a:t>负责联调、截图与现场演示。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>
                <a:latin typeface="Inter"/>
                <a:ea typeface="Inter"/>
                <a:cs typeface="Inter"/>
              </a:rPr>
              <a:t>准备数据库</a:t>
            </a:r>
          </a:p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>
                <a:latin typeface="Inter"/>
                <a:ea typeface="Inter"/>
                <a:cs typeface="Inter"/>
              </a:rPr>
              <a:t>新库执行 18 表脚本；V1.0 先备份，再执行两表升级。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>
                <a:latin typeface="Inter"/>
                <a:ea typeface="Inter"/>
                <a:cs typeface="Inter"/>
              </a:defRPr>
            </a:pPr>
            <a:r>
              <a:rPr sz="2700">
                <a:latin typeface="Inter"/>
                <a:ea typeface="Inter"/>
                <a:cs typeface="Inter"/>
              </a:rPr>
              <a:t>部署与团队验收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构建与启动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Vue 生产构建，Maven 测试打包，以 JAR 同源运行。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验证与交付</a:t>
            </a:r>
          </a:p>
          <a:p xmlns:a="http://schemas.openxmlformats.org/drawingml/2006/main">
            <a:pPr marL="0" marR="0" lvl="0" indent="0" algn="l" defTabSz="91440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核对后台权限和设备密钥，补测 JDK 17 与 IDEA 右键测试。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57" y="3373755"/>
            <a:ext cx="11430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>
                <a:latin typeface="Inter"/>
                <a:ea typeface="Inter"/>
                <a:cs typeface="Inter"/>
              </a:rPr>
              <a:t>第一步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>
                <a:latin typeface="Inter"/>
                <a:ea typeface="Inter"/>
                <a:cs typeface="Inter"/>
              </a:rPr>
              <a:t>第二步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latin typeface="Inter"/>
                <a:ea typeface="Inter"/>
                <a:cs typeface="Inter"/>
              </a:defRPr>
            </a:pPr>
            <a:r>
              <a:rPr sz="1500">
                <a:latin typeface="Inter"/>
                <a:ea typeface="Inter"/>
                <a:cs typeface="Inter"/>
              </a:rPr>
              <a:t>第三步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4650">
                <a:latin typeface="Inter"/>
                <a:ea typeface="Inter"/>
                <a:cs typeface="Inter"/>
              </a:defRPr>
            </a:pPr>
            <a:r>
              <a:rPr sz="4650">
                <a:solidFill>
                  <a:schemeClr val="accent6">
                    <a:lumMod val="75000"/>
                  </a:schemeClr>
                </a:solidFill>
                <a:latin typeface="Inter"/>
                <a:ea typeface="Inter"/>
                <a:cs typeface="Inter"/>
              </a:rPr>
              <a:t>项目收获与演示交流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latin typeface="Inter"/>
                <a:ea typeface="Inter"/>
                <a:cs typeface="Inter"/>
              </a:defRPr>
            </a:pPr>
            <a:r>
              <a:rPr sz="1800">
                <a:latin typeface="Inter"/>
                <a:ea typeface="Inter"/>
                <a:cs typeface="Inter"/>
              </a:rPr>
              <a:t>十项验收功能与 V1.1 优化已实现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>
                <a:latin typeface="Inter"/>
                <a:ea typeface="Inter"/>
                <a:cs typeface="Inter"/>
              </a:defRPr>
            </a:pPr>
            <a:r>
              <a:rPr sz="1800">
                <a:latin typeface="Inter"/>
                <a:ea typeface="Inter"/>
                <a:cs typeface="Inter"/>
              </a:rPr>
              <a:t>收获：统一口径、数据约束、跨角色协作和可验证交付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3623cb3414ca5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2026-09-08T14:54:35.1930000Z</dcterms:created>
  <dcterms:modified xsi:type="dcterms:W3CDTF">2026-09-08T14:54:35.1930000Z</dcterms:modified>
</coreProperties>
</file>
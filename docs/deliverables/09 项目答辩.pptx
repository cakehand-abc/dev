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684337aa0974e29" /><Relationship Type="http://schemas.openxmlformats.org/officeDocument/2006/relationships/extended-properties" Target="/docProps/app.xml" Id="R57568190aac441d8" /><Relationship Type="http://schemas.openxmlformats.org/officeDocument/2006/relationships/officeDocument" Target="/ppt/presentation.xml" Id="Ra367316206e24f9c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9266c76b34064e26"/>
  </p:sldMasterIdLst>
  <p:notesMasterIdLst>
    <p:notesMasterId xmlns:r="http://schemas.openxmlformats.org/officeDocument/2006/relationships" r:id="R5100888edd2e40d7"/>
  </p:notesMasterIdLst>
  <p:sldIdLst>
    <p:sldId xmlns:r="http://schemas.openxmlformats.org/officeDocument/2006/relationships" id="256" r:id="R0554ad7a84a24a93"/>
    <p:sldId xmlns:r="http://schemas.openxmlformats.org/officeDocument/2006/relationships" id="257" r:id="R4b189a90fdff4b70"/>
    <p:sldId xmlns:r="http://schemas.openxmlformats.org/officeDocument/2006/relationships" id="258" r:id="Rc401a6626453486e"/>
    <p:sldId xmlns:r="http://schemas.openxmlformats.org/officeDocument/2006/relationships" id="259" r:id="R79646653b4434ba1"/>
    <p:sldId xmlns:r="http://schemas.openxmlformats.org/officeDocument/2006/relationships" id="260" r:id="Rb2c81cdbc0eb4039"/>
    <p:sldId xmlns:r="http://schemas.openxmlformats.org/officeDocument/2006/relationships" id="261" r:id="R15662adb19684623"/>
    <p:sldId xmlns:r="http://schemas.openxmlformats.org/officeDocument/2006/relationships" id="262" r:id="Rb0904f104c56432a"/>
    <p:sldId xmlns:r="http://schemas.openxmlformats.org/officeDocument/2006/relationships" id="263" r:id="Rdd882e4f4ea04a89"/>
    <p:sldId xmlns:r="http://schemas.openxmlformats.org/officeDocument/2006/relationships" id="264" r:id="R13a8c0db4a944e12"/>
    <p:sldId xmlns:r="http://schemas.openxmlformats.org/officeDocument/2006/relationships" id="265" r:id="Rd9f41dda94d9407d"/>
    <p:sldId xmlns:r="http://schemas.openxmlformats.org/officeDocument/2006/relationships" id="266" r:id="R1df482d5129a4f19"/>
    <p:sldId xmlns:r="http://schemas.openxmlformats.org/officeDocument/2006/relationships" id="267" r:id="Re0fd449bfaa8438d"/>
    <p:sldId xmlns:r="http://schemas.openxmlformats.org/officeDocument/2006/relationships" id="268" r:id="R7083995184164103"/>
    <p:sldId xmlns:r="http://schemas.openxmlformats.org/officeDocument/2006/relationships" id="269" r:id="Rc3b2ee348bd1480c"/>
    <p:sldId xmlns:r="http://schemas.openxmlformats.org/officeDocument/2006/relationships" id="270" r:id="R36894fc6cace4923"/>
    <p:sldId xmlns:r="http://schemas.openxmlformats.org/officeDocument/2006/relationships" id="271" r:id="R9245ed84573d4fed"/>
  </p:sldIdLst>
  <p:sldSz cx="12192000" cy="6858000"/>
  <p:notesSz cx="6858000" cy="9144000"/>
  <p:embeddedFontLst>
    <p:embeddedFont>
      <p:font typeface="Inter"/>
      <p:regular xmlns:r="http://schemas.openxmlformats.org/officeDocument/2006/relationships" r:id="Re67993032e474f84"/>
      <p:bold xmlns:r="http://schemas.openxmlformats.org/officeDocument/2006/relationships" r:id="Rf59e7602b0b1406d"/>
    </p:embeddedFont>
    <p:embeddedFont>
      <p:font typeface="Inter Medium"/>
      <p:regular xmlns:r="http://schemas.openxmlformats.org/officeDocument/2006/relationships" r:id="Rc2eeceb196384728"/>
    </p:embeddedFont>
    <p:embeddedFont>
      <p:font typeface="Inter SemiBold"/>
      <p:regular xmlns:r="http://schemas.openxmlformats.org/officeDocument/2006/relationships" r:id="Rbbec542f0e2c4479"/>
      <p:bold xmlns:r="http://schemas.openxmlformats.org/officeDocument/2006/relationships" r:id="R1c99bafd3f56456e"/>
    </p:embeddedFont>
    <p:embeddedFont>
      <p:font typeface="OpenAI Sans"/>
      <p:regular xmlns:r="http://schemas.openxmlformats.org/officeDocument/2006/relationships" r:id="R6d2d1b82e5784814"/>
      <p:bold xmlns:r="http://schemas.openxmlformats.org/officeDocument/2006/relationships" r:id="Rc98a0dff4ff14005"/>
      <p:italic xmlns:r="http://schemas.openxmlformats.org/officeDocument/2006/relationships" r:id="R13e9695ef97c4d4c"/>
      <p:boldItalic xmlns:r="http://schemas.openxmlformats.org/officeDocument/2006/relationships" r:id="Re58b3e967abf4eaa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0f1f45038684c47" /><Relationship Type="http://schemas.openxmlformats.org/officeDocument/2006/relationships/slideMaster" Target="/ppt/slideMasters/slideMaster1.xml" Id="R9266c76b34064e26" /><Relationship Type="http://schemas.openxmlformats.org/officeDocument/2006/relationships/notesMaster" Target="/ppt/notesMasters/notesMaster1.xml" Id="R5100888edd2e40d7" /><Relationship Type="http://schemas.openxmlformats.org/officeDocument/2006/relationships/presProps" Target="/ppt/presProps.xml" Id="R2b7dd16d19e84803" /><Relationship Type="http://schemas.openxmlformats.org/officeDocument/2006/relationships/viewProps" Target="/ppt/viewProps.xml" Id="Rc88b832ff4204ab0" /><Relationship Type="http://schemas.openxmlformats.org/officeDocument/2006/relationships/tableStyles" Target="/ppt/tableStyles.xml" Id="R51e1dcf8ae67481e" /><Relationship Type="http://schemas.openxmlformats.org/officeDocument/2006/relationships/font" Target="/ppt/fonts/font.dat" Id="Re67993032e474f84" /><Relationship Type="http://schemas.openxmlformats.org/officeDocument/2006/relationships/font" Target="/ppt/fonts/font2.dat" Id="Rf59e7602b0b1406d" /><Relationship Type="http://schemas.openxmlformats.org/officeDocument/2006/relationships/font" Target="/ppt/fonts/font3.dat" Id="Rc2eeceb196384728" /><Relationship Type="http://schemas.openxmlformats.org/officeDocument/2006/relationships/font" Target="/ppt/fonts/font4.dat" Id="Rbbec542f0e2c4479" /><Relationship Type="http://schemas.openxmlformats.org/officeDocument/2006/relationships/font" Target="/ppt/fonts/font5.dat" Id="R1c99bafd3f56456e" /><Relationship Type="http://schemas.openxmlformats.org/officeDocument/2006/relationships/font" Target="/ppt/fonts/font6.dat" Id="R6d2d1b82e5784814" /><Relationship Type="http://schemas.openxmlformats.org/officeDocument/2006/relationships/font" Target="/ppt/fonts/font7.dat" Id="Rc98a0dff4ff14005" /><Relationship Type="http://schemas.openxmlformats.org/officeDocument/2006/relationships/font" Target="/ppt/fonts/font8.dat" Id="R13e9695ef97c4d4c" /><Relationship Type="http://schemas.openxmlformats.org/officeDocument/2006/relationships/font" Target="/ppt/fonts/font9.dat" Id="Re58b3e967abf4eaa" /><Relationship Type="http://schemas.openxmlformats.org/officeDocument/2006/relationships/slide" Target="/ppt/slides/slide1.xml" Id="R0554ad7a84a24a93" /><Relationship Type="http://schemas.openxmlformats.org/officeDocument/2006/relationships/slide" Target="/ppt/slides/slide2.xml" Id="R4b189a90fdff4b70" /><Relationship Type="http://schemas.openxmlformats.org/officeDocument/2006/relationships/slide" Target="/ppt/slides/slide3.xml" Id="Rc401a6626453486e" /><Relationship Type="http://schemas.openxmlformats.org/officeDocument/2006/relationships/slide" Target="/ppt/slides/slide4.xml" Id="R79646653b4434ba1" /><Relationship Type="http://schemas.openxmlformats.org/officeDocument/2006/relationships/slide" Target="/ppt/slides/slide5.xml" Id="Rb2c81cdbc0eb4039" /><Relationship Type="http://schemas.openxmlformats.org/officeDocument/2006/relationships/slide" Target="/ppt/slides/slide6.xml" Id="R15662adb19684623" /><Relationship Type="http://schemas.openxmlformats.org/officeDocument/2006/relationships/slide" Target="/ppt/slides/slide7.xml" Id="Rb0904f104c56432a" /><Relationship Type="http://schemas.openxmlformats.org/officeDocument/2006/relationships/slide" Target="/ppt/slides/slide8.xml" Id="Rdd882e4f4ea04a89" /><Relationship Type="http://schemas.openxmlformats.org/officeDocument/2006/relationships/slide" Target="/ppt/slides/slide9.xml" Id="R13a8c0db4a944e12" /><Relationship Type="http://schemas.openxmlformats.org/officeDocument/2006/relationships/slide" Target="/ppt/slides/slide10.xml" Id="Rd9f41dda94d9407d" /><Relationship Type="http://schemas.openxmlformats.org/officeDocument/2006/relationships/slide" Target="/ppt/slides/slide11.xml" Id="R1df482d5129a4f19" /><Relationship Type="http://schemas.openxmlformats.org/officeDocument/2006/relationships/slide" Target="/ppt/slides/slide12.xml" Id="Re0fd449bfaa8438d" /><Relationship Type="http://schemas.openxmlformats.org/officeDocument/2006/relationships/slide" Target="/ppt/slides/slide13.xml" Id="R7083995184164103" /><Relationship Type="http://schemas.openxmlformats.org/officeDocument/2006/relationships/slide" Target="/ppt/slides/slide14.xml" Id="Rc3b2ee348bd1480c" /><Relationship Type="http://schemas.openxmlformats.org/officeDocument/2006/relationships/slide" Target="/ppt/slides/slide15.xml" Id="R36894fc6cace4923" /><Relationship Type="http://schemas.openxmlformats.org/officeDocument/2006/relationships/slide" Target="/ppt/slides/slide16.xml" Id="R9245ed84573d4fe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42e6593393644a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efault Codex Theme">
  <a:themeElements>
    <a:clrScheme name="Color Block Theme">
      <a:dk1>
        <a:srgbClr val="000000"/>
      </a:dk1>
      <a:lt1>
        <a:srgbClr val="FFFFFF"/>
      </a:lt1>
      <a:dk2>
        <a:srgbClr val="393939"/>
      </a:dk2>
      <a:lt2>
        <a:srgbClr val="F5F5F5"/>
      </a:lt2>
      <a:accent1>
        <a:srgbClr val="2ED978"/>
      </a:accent1>
      <a:accent2>
        <a:srgbClr val="9FB6FE"/>
      </a:accent2>
      <a:accent3>
        <a:srgbClr val="F3F161"/>
      </a:accent3>
      <a:accent4>
        <a:srgbClr val="FF5F27"/>
      </a:accent4>
      <a:accent5>
        <a:srgbClr val="5EC4FF"/>
      </a:accent5>
      <a:accent6>
        <a:srgbClr val="3C7DA3"/>
      </a:accent6>
      <a:hlink>
        <a:srgbClr val="FFA83A"/>
      </a:hlink>
      <a:folHlink>
        <a:srgbClr val="96607D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olor Block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6fab1f7201a498d" /><Relationship Type="http://schemas.openxmlformats.org/officeDocument/2006/relationships/notesMaster" Target="/ppt/notesMasters/notesMaster1.xml" Id="R22ce91e83db840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2c9e9bcadec4180" /><Relationship Type="http://schemas.openxmlformats.org/officeDocument/2006/relationships/notesMaster" Target="/ppt/notesMasters/notesMaster1.xml" Id="Rd1a2c83c4061449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147d474559340aa" /><Relationship Type="http://schemas.openxmlformats.org/officeDocument/2006/relationships/notesMaster" Target="/ppt/notesMasters/notesMaster1.xml" Id="R608ba5fe0751473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4bda454dea3477b" /><Relationship Type="http://schemas.openxmlformats.org/officeDocument/2006/relationships/notesMaster" Target="/ppt/notesMasters/notesMaster1.xml" Id="Re10a727d5de1496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066b9b30c644aff" /><Relationship Type="http://schemas.openxmlformats.org/officeDocument/2006/relationships/notesMaster" Target="/ppt/notesMasters/notesMaster1.xml" Id="R94fca73558f941f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2ba2665c1d41d5" /><Relationship Type="http://schemas.openxmlformats.org/officeDocument/2006/relationships/notesMaster" Target="/ppt/notesMasters/notesMaster1.xml" Id="Rd254ff37609b473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1f1a8d0a6d24edd" /><Relationship Type="http://schemas.openxmlformats.org/officeDocument/2006/relationships/notesMaster" Target="/ppt/notesMasters/notesMaster1.xml" Id="Rf5b8405d974046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e7ec24f737648f7" /><Relationship Type="http://schemas.openxmlformats.org/officeDocument/2006/relationships/notesMaster" Target="/ppt/notesMasters/notesMaster1.xml" Id="R28b05639806a450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31b77f7e4f746a9" /><Relationship Type="http://schemas.openxmlformats.org/officeDocument/2006/relationships/notesMaster" Target="/ppt/notesMasters/notesMaster1.xml" Id="R4067724f0b4a443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a231b6343c4496d" /><Relationship Type="http://schemas.openxmlformats.org/officeDocument/2006/relationships/notesMaster" Target="/ppt/notesMasters/notesMaster1.xml" Id="Rbdf458675510490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88b16765cf34cc7" /><Relationship Type="http://schemas.openxmlformats.org/officeDocument/2006/relationships/notesMaster" Target="/ppt/notesMasters/notesMaster1.xml" Id="R4716112de84544d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53b956ee63841fc" /><Relationship Type="http://schemas.openxmlformats.org/officeDocument/2006/relationships/notesMaster" Target="/ppt/notesMasters/notesMaster1.xml" Id="R2ab8af41ca0846d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52e2cac4c314f28" /><Relationship Type="http://schemas.openxmlformats.org/officeDocument/2006/relationships/notesMaster" Target="/ppt/notesMasters/notesMaster1.xml" Id="Rd8d0db5adc3c4a3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ab7817e18444e19" /><Relationship Type="http://schemas.openxmlformats.org/officeDocument/2006/relationships/notesMaster" Target="/ppt/notesMasters/notesMaster1.xml" Id="Rfffd802892574af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222bd517c7e4a78" /><Relationship Type="http://schemas.openxmlformats.org/officeDocument/2006/relationships/notesMaster" Target="/ppt/notesMasters/notesMaster1.xml" Id="R8d564fee280b4b8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809509ed44b4a04" /><Relationship Type="http://schemas.openxmlformats.org/officeDocument/2006/relationships/notesMaster" Target="/ppt/notesMasters/notesMaster1.xml" Id="R2ecce68d8acc49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项目全称为智慧医养大数据公共服务平台大数据决策分析系统。成员姓名待团队填写。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来源：本项目源代码与已确认的需求。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需求来自用户提供的医养结合示范项目背景。本项目不宣称获得示范认定。真实设备、道路地图与临床诊断不属于课程版。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实现依据：pom.xml、frontend/src、src/main/java、StatisticsMapper.xml。Spring Boot 固定 3.5.16，Java 编译目标 17。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字段及索引的权威来源：database/01-schema.sql；详细字典见 02 数据库设计说明书。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SecurityConfig、AuthController、AccountPrincipal、CareService。只读按钮隐藏只是界面行为，权限以服务端判断为准。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项目运行截图，虚构演示数据。人口数据按当前在册档案统计，不是历史快照。人口页面见 03-population.png。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项目运行截图。所有健康阈值仅为教学参数，不作为临床诊断或治疗依据。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依据 StatisticsMapper.xml followupWhere/followupColumns 和 CareService.complete。统计使用 [start,end)，取消时间与完成时间按截止时刻判断。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项目实际截图。WGS84，圆形半径 50～5000 米。离线画布没有道路底图。设备在线由心跳时间决定。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项目实际截图。GeoService 按 recorded_at 与 id 排序，GeoCanvas 对长间隔断线显示。历史换绑归属测试已通过。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数据来源：docs/evidence/maven-tests.json、http-smoke.json、browser-qa.json，2026-09-08。三类计数是不同测试集合，不相加作为唯一需求覆盖数。JDK 17 和 IDEA 内置 JUnit 未实测。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 docs/evidence/performance.json。2026-09-08，i7-13650HX，Windows 11，Zulu 25.0.1，MySQL 8.0.46。各端点样本数 662/665/670/667，P95 363.27/386.37/1104.8/744.57 ms。默认近 30 天，无地区筛选，分页 20。只读负载，不代表并发写入；新增数据已清理。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姓名与学号待团队填写。当前功能不需要独立 Agent 工程师；新增自然语言问答等明确需求后再评估岗位。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 scripts/build.ps1、scripts/start.ps1 和 11 项目部署环境说明书。Windows 重新打包前应停止运行中的同一 JAR。当前仅本地部署，公网 HTTPS 与恢复演练未执行。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当前边界：模拟数据、离线坐标、单单位部署。交付代码、SQL、10 份 Word、1 份 PPT。成员姓名、完整 IDEA 版本和人工验收签收待补充。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8081f2c9ba434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07b110d1a4432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956ce81f63404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4b2f37614f438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d4b5c3da3a4b9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dc0151ff294fd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f4d41a198d407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7ea34cdc1645b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bb123b707f49bd" /><Relationship Type="http://schemas.openxmlformats.org/officeDocument/2006/relationships/image" Target="/ppt/media/image.png" Id="R0352f875146f48f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7b7871b76345f5" /><Relationship Type="http://schemas.openxmlformats.org/officeDocument/2006/relationships/image" Target="/ppt/media/image2.png" Id="R9a72b0b0e71f465f" /></Relationships>
</file>

<file path=ppt/slideLayouts/slideLayout1.xml><?xml version="1.0" encoding="utf-8"?>
<p:sldLayout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83004A5-B645-655E-5362-4217D55892E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93700" y="1041400"/>
            <a:ext cx="7493000" cy="249149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6000" b="1" i="0">
                <a:solidFill>
                  <a:schemeClr val="accent1"/>
                </a:solidFill>
                <a:latin typeface="Inter SemiBold"/>
                <a:ea typeface="Inter SemiBold"/>
                <a:cs typeface="Inter SemiBold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57031B1-59B2-C235-9FDD-8050418A5FD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3700" y="4356100"/>
            <a:ext cx="5537200" cy="16383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E851FDE-9E0B-568C-1CBA-E72B86CC06E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CCD18F-3BF6-A3EE-DAAE-66BD406D7E8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0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86992D-ADA6-5A23-EBD5-6BEF0A2E61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DBB333F-FFCF-AA9E-7AC0-64DB02353F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DCC3060-FADA-4310-30F9-24EC34B5AA8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E7B047-08E6-29C1-F101-C084D555AAC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DE564C6-8AA0-935D-A919-07AFA15B335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12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BE46D3-8F05-1C7F-3EC7-20BFCC76C251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6256618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39D2C21-36BF-25E7-8E97-1D17F313F7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14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E090C5-E6C8-92F2-E8C2-A840B8F1807D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43180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5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C6D2D15-AEC2-9F99-316F-C37AF863965D}"/>
              </a:ext>
            </a:extLst>
          </p:cNvPr>
          <p:cNvSpPr>
            <a:spLocks xmlns:a="http://schemas.openxmlformats.org/drawingml/2006/main" noGrp="1"/>
          </p:cNvSpPr>
          <p:nvPr>
            <p:ph idx="11"/>
          </p:nvPr>
        </p:nvSpPr>
        <p:spPr>
          <a:xfrm xmlns:a="http://schemas.openxmlformats.org/drawingml/2006/main">
            <a:off x="8232273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4826000"/>
            <a:ext cx="2595934" cy="116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952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8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4F70A9DA-D783-0627-3166-E13B68C2ADA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334966" y="4826000"/>
            <a:ext cx="2595934" cy="11684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BF2647-8E8C-CAEE-896D-0E1567AF7E99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6264413" y="4826000"/>
            <a:ext cx="2595934" cy="116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0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37C6F143-221A-9959-8FBA-B9B1DB6602D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9205679" y="4826000"/>
            <a:ext cx="2595934" cy="11684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1182C5-F22B-2641-06DE-4EDACA3C1D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9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7A4AD5-204B-38FD-4F33-270C2F9F5CC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5CF9983-3FD7-FAE4-9F0B-B2CE806D89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012CBCC-C555-8C11-443D-86D6F7A45C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8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9B260B-B882-BF7F-1BB1-28B9578A25A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9.xml><?xml version="1.0" encoding="utf-8"?>
<p:sldLayout xmlns:p="http://schemas.openxmlformats.org/presentationml/2006/main" preserve="1" userDrawn="1">
  <p:cSld name="36 Field Grid">
    <p:bg>
      <p:bgPr>
        <a:blipFill xmlns:a="http://schemas.openxmlformats.org/drawingml/2006/main" rotWithShape="1">
          <a:blip xmlns:r="http://schemas.openxmlformats.org/officeDocument/2006/relationships" r:embed="R0352f875146f48f2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0.xml><?xml version="1.0" encoding="utf-8"?>
<p:sldLayout xmlns:p="http://schemas.openxmlformats.org/presentationml/2006/main" preserve="1" userDrawn="1">
  <p:cSld name="48 Field Grid">
    <p:bg>
      <p:bgPr>
        <a:blipFill xmlns:a="http://schemas.openxmlformats.org/drawingml/2006/main" rotWithShape="1">
          <a:blip xmlns:r="http://schemas.openxmlformats.org/officeDocument/2006/relationships" r:embed="R9a72b0b0e71f465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7ceda1a06f47d2" /><Relationship Type="http://schemas.openxmlformats.org/officeDocument/2006/relationships/slideLayout" Target="/ppt/slideLayouts/slideLayout1.xml" Id="R2729b11debe94b6d" /><Relationship Type="http://schemas.openxmlformats.org/officeDocument/2006/relationships/slideLayout" Target="/ppt/slideLayouts/slideLayout2.xml" Id="Rc74821aaab444379" /><Relationship Type="http://schemas.openxmlformats.org/officeDocument/2006/relationships/slideLayout" Target="/ppt/slideLayouts/slideLayout3.xml" Id="R93c8ee592298479e" /><Relationship Type="http://schemas.openxmlformats.org/officeDocument/2006/relationships/slideLayout" Target="/ppt/slideLayouts/slideLayout4.xml" Id="R7df1a20f6fac4a70" /><Relationship Type="http://schemas.openxmlformats.org/officeDocument/2006/relationships/slideLayout" Target="/ppt/slideLayouts/slideLayout5.xml" Id="R39aee74e424048dc" /><Relationship Type="http://schemas.openxmlformats.org/officeDocument/2006/relationships/slideLayout" Target="/ppt/slideLayouts/slideLayout6.xml" Id="Rc09bac37bdb647eb" /><Relationship Type="http://schemas.openxmlformats.org/officeDocument/2006/relationships/slideLayout" Target="/ppt/slideLayouts/slideLayout7.xml" Id="Rbcc58f200741499e" /><Relationship Type="http://schemas.openxmlformats.org/officeDocument/2006/relationships/slideLayout" Target="/ppt/slideLayouts/slideLayout8.xml" Id="R15504afe4f864418" /><Relationship Type="http://schemas.openxmlformats.org/officeDocument/2006/relationships/slideLayout" Target="/ppt/slideLayouts/slideLayout9.xml" Id="R862217b82b8143a5" /><Relationship Type="http://schemas.openxmlformats.org/officeDocument/2006/relationships/slideLayout" Target="/ppt/slideLayouts/slideLayout10.xml" Id="Re0674e6684bf43f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B87ED2E-D8FF-5C8C-ED50-59BA3091C3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5B0E1CB-6DCA-2E9F-2B74-4309B4084C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75650C-2983-5B02-8421-FF181843543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872C88C-1AB3-96BA-C9E5-3435A4BD59B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29b11debe94b6d"/>
    <p:sldLayoutId xmlns:r="http://schemas.openxmlformats.org/officeDocument/2006/relationships" id="2147483650" r:id="Rc74821aaab444379"/>
    <p:sldLayoutId xmlns:r="http://schemas.openxmlformats.org/officeDocument/2006/relationships" id="2147483651" r:id="R93c8ee592298479e"/>
    <p:sldLayoutId xmlns:r="http://schemas.openxmlformats.org/officeDocument/2006/relationships" id="2147483652" r:id="R7df1a20f6fac4a70"/>
    <p:sldLayoutId xmlns:r="http://schemas.openxmlformats.org/officeDocument/2006/relationships" id="2147483653" r:id="R39aee74e424048dc"/>
    <p:sldLayoutId xmlns:r="http://schemas.openxmlformats.org/officeDocument/2006/relationships" id="2147483654" r:id="Rc09bac37bdb647eb"/>
    <p:sldLayoutId xmlns:r="http://schemas.openxmlformats.org/officeDocument/2006/relationships" id="2147483655" r:id="Rbcc58f200741499e"/>
    <p:sldLayoutId xmlns:r="http://schemas.openxmlformats.org/officeDocument/2006/relationships" id="2147483656" r:id="R15504afe4f864418"/>
    <p:sldLayoutId xmlns:r="http://schemas.openxmlformats.org/officeDocument/2006/relationships" id="2147483657" r:id="R862217b82b8143a5"/>
    <p:sldLayoutId xmlns:r="http://schemas.openxmlformats.org/officeDocument/2006/relationships" id="2147483658" r:id="Re0674e6684bf43f5"/>
  </p:sldLayoutIdLst>
  <p:hf hd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2900" b="0" i="0" kern="1200">
          <a:solidFill>
            <a:schemeClr val="tx1"/>
          </a:solidFill>
          <a:latin typeface="Inter Medium"/>
          <a:ea typeface="Inter Medium"/>
          <a:cs typeface="Inter Medium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xmlns:a="http://schemas.openxmlformats.org/drawingml/2006/main" val="F26B43"/>
          </p15:clr>
        </p15:guide>
        <p15:guide id="2" pos="7680" userDrawn="1">
          <p15:clr>
            <a:srgbClr xmlns:a="http://schemas.openxmlformats.org/drawingml/2006/main" val="F26B43"/>
          </p15:clr>
        </p15:guide>
        <p15:guide id="3" pos="248" userDrawn="1">
          <p15:clr>
            <a:srgbClr xmlns:a="http://schemas.openxmlformats.org/drawingml/2006/main" val="F26B43"/>
          </p15:clr>
        </p15:guide>
        <p15:guide id="4" pos="1264" userDrawn="1">
          <p15:clr>
            <a:srgbClr xmlns:a="http://schemas.openxmlformats.org/drawingml/2006/main" val="F26B43"/>
          </p15:clr>
        </p15:guide>
        <p15:guide id="5" pos="1480" userDrawn="1">
          <p15:clr>
            <a:srgbClr xmlns:a="http://schemas.openxmlformats.org/drawingml/2006/main" val="F26B43"/>
          </p15:clr>
        </p15:guide>
        <p15:guide id="6" pos="2496" userDrawn="1">
          <p15:clr>
            <a:srgbClr xmlns:a="http://schemas.openxmlformats.org/drawingml/2006/main" val="F26B43"/>
          </p15:clr>
        </p15:guide>
        <p15:guide id="7" pos="2712" userDrawn="1">
          <p15:clr>
            <a:srgbClr xmlns:a="http://schemas.openxmlformats.org/drawingml/2006/main" val="F26B43"/>
          </p15:clr>
        </p15:guide>
        <p15:guide id="8" pos="3736" userDrawn="1">
          <p15:clr>
            <a:srgbClr xmlns:a="http://schemas.openxmlformats.org/drawingml/2006/main" val="F26B43"/>
          </p15:clr>
        </p15:guide>
        <p15:guide id="9" pos="3944" userDrawn="1">
          <p15:clr>
            <a:srgbClr xmlns:a="http://schemas.openxmlformats.org/drawingml/2006/main" val="F26B43"/>
          </p15:clr>
        </p15:guide>
        <p15:guide id="10" pos="4968" userDrawn="1">
          <p15:clr>
            <a:srgbClr xmlns:a="http://schemas.openxmlformats.org/drawingml/2006/main" val="F26B43"/>
          </p15:clr>
        </p15:guide>
        <p15:guide id="11" pos="5184" userDrawn="1">
          <p15:clr>
            <a:srgbClr xmlns:a="http://schemas.openxmlformats.org/drawingml/2006/main" val="F26B43"/>
          </p15:clr>
        </p15:guide>
        <p15:guide id="12" pos="6200" userDrawn="1">
          <p15:clr>
            <a:srgbClr xmlns:a="http://schemas.openxmlformats.org/drawingml/2006/main" val="F26B43"/>
          </p15:clr>
        </p15:guide>
        <p15:guide id="13" pos="6416" userDrawn="1">
          <p15:clr>
            <a:srgbClr xmlns:a="http://schemas.openxmlformats.org/drawingml/2006/main" val="F26B43"/>
          </p15:clr>
        </p15:guide>
        <p15:guide id="14" pos="7432" userDrawn="1">
          <p15:clr>
            <a:srgbClr xmlns:a="http://schemas.openxmlformats.org/drawingml/2006/main" val="F26B43"/>
          </p15:clr>
        </p15:guide>
        <p15:guide id="15" orient="horz" userDrawn="1">
          <p15:clr>
            <a:srgbClr xmlns:a="http://schemas.openxmlformats.org/drawingml/2006/main" val="F26B43"/>
          </p15:clr>
        </p15:guide>
        <p15:guide id="17" orient="horz" pos="248" userDrawn="1">
          <p15:clr>
            <a:srgbClr xmlns:a="http://schemas.openxmlformats.org/drawingml/2006/main" val="F26B43"/>
          </p15:clr>
        </p15:guide>
        <p15:guide id="18" orient="horz" pos="656" userDrawn="1">
          <p15:clr>
            <a:srgbClr xmlns:a="http://schemas.openxmlformats.org/drawingml/2006/main" val="F26B43"/>
          </p15:clr>
        </p15:guide>
        <p15:guide id="19" orient="horz" pos="872" userDrawn="1">
          <p15:clr>
            <a:srgbClr xmlns:a="http://schemas.openxmlformats.org/drawingml/2006/main" val="F26B43"/>
          </p15:clr>
        </p15:guide>
        <p15:guide id="20" orient="horz" pos="1280" userDrawn="1">
          <p15:clr>
            <a:srgbClr xmlns:a="http://schemas.openxmlformats.org/drawingml/2006/main" val="F26B43"/>
          </p15:clr>
        </p15:guide>
        <p15:guide id="21" orient="horz" pos="1496" userDrawn="1">
          <p15:clr>
            <a:srgbClr xmlns:a="http://schemas.openxmlformats.org/drawingml/2006/main" val="F26B43"/>
          </p15:clr>
        </p15:guide>
        <p15:guide id="22" orient="horz" pos="1904" userDrawn="1">
          <p15:clr>
            <a:srgbClr xmlns:a="http://schemas.openxmlformats.org/drawingml/2006/main" val="F26B43"/>
          </p15:clr>
        </p15:guide>
        <p15:guide id="23" orient="horz" pos="2120" userDrawn="1">
          <p15:clr>
            <a:srgbClr xmlns:a="http://schemas.openxmlformats.org/drawingml/2006/main" val="F26B43"/>
          </p15:clr>
        </p15:guide>
        <p15:guide id="24" orient="horz" pos="2528" userDrawn="1">
          <p15:clr>
            <a:srgbClr xmlns:a="http://schemas.openxmlformats.org/drawingml/2006/main" val="F26B43"/>
          </p15:clr>
        </p15:guide>
        <p15:guide id="25" orient="horz" pos="2744" userDrawn="1">
          <p15:clr>
            <a:srgbClr xmlns:a="http://schemas.openxmlformats.org/drawingml/2006/main" val="F26B43"/>
          </p15:clr>
        </p15:guide>
        <p15:guide id="26" orient="horz" pos="3152" userDrawn="1">
          <p15:clr>
            <a:srgbClr xmlns:a="http://schemas.openxmlformats.org/drawingml/2006/main" val="F26B43"/>
          </p15:clr>
        </p15:guide>
        <p15:guide id="27" orient="horz" pos="3368" userDrawn="1">
          <p15:clr>
            <a:srgbClr xmlns:a="http://schemas.openxmlformats.org/drawingml/2006/main" val="F26B43"/>
          </p15:clr>
        </p15:guide>
        <p15:guide id="28" orient="horz" pos="3776" userDrawn="1">
          <p15:clr>
            <a:srgbClr xmlns:a="http://schemas.openxmlformats.org/drawingml/2006/main" val="F26B43"/>
          </p15:clr>
        </p15:guide>
        <p15:guide id="29" orient="horz" pos="4088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Default Codex Theme">
  <a:themeElements>
    <a:clrScheme name="Color Block Theme">
      <a:dk1>
        <a:srgbClr val="000000"/>
      </a:dk1>
      <a:lt1>
        <a:srgbClr val="FFFFFF"/>
      </a:lt1>
      <a:dk2>
        <a:srgbClr val="393939"/>
      </a:dk2>
      <a:lt2>
        <a:srgbClr val="F5F5F5"/>
      </a:lt2>
      <a:accent1>
        <a:srgbClr val="2ED978"/>
      </a:accent1>
      <a:accent2>
        <a:srgbClr val="9FB6FE"/>
      </a:accent2>
      <a:accent3>
        <a:srgbClr val="F3F161"/>
      </a:accent3>
      <a:accent4>
        <a:srgbClr val="FF5F27"/>
      </a:accent4>
      <a:accent5>
        <a:srgbClr val="5EC4FF"/>
      </a:accent5>
      <a:accent6>
        <a:srgbClr val="3C7DA3"/>
      </a:accent6>
      <a:hlink>
        <a:srgbClr val="FFA83A"/>
      </a:hlink>
      <a:folHlink>
        <a:srgbClr val="96607D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olor Block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b93b1de94849e8" /><Relationship Type="http://schemas.openxmlformats.org/officeDocument/2006/relationships/image" Target="/ppt/media/image3.png" Id="R014b68223b064e7d" /><Relationship Type="http://schemas.openxmlformats.org/officeDocument/2006/relationships/notesSlide" Target="/ppt/notesSlides/notesSlide1.xml" Id="R9b699ba0a8ef41b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b3ef3ce5764dda" /><Relationship Type="http://schemas.openxmlformats.org/officeDocument/2006/relationships/notesSlide" Target="/ppt/notesSlides/notesSlide2.xml" Id="R5253c3d742f747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f2eb1e0d804bf5" /><Relationship Type="http://schemas.openxmlformats.org/officeDocument/2006/relationships/notesSlide" Target="/ppt/notesSlides/notesSlide3.xml" Id="Re6a0b136b4614a1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7d3dbbeecf34b81" /><Relationship Type="http://schemas.openxmlformats.org/officeDocument/2006/relationships/notesSlide" Target="/ppt/notesSlides/notesSlide4.xml" Id="Re9a08e87d4954a8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e56b671e614648" /><Relationship Type="http://schemas.openxmlformats.org/officeDocument/2006/relationships/notesSlide" Target="/ppt/notesSlides/notesSlide5.xml" Id="Rc465a39368a9491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540a37f99d4f90" /><Relationship Type="http://schemas.openxmlformats.org/officeDocument/2006/relationships/notesSlide" Target="/ppt/notesSlides/notesSlide6.xml" Id="Rc99b28ab376447f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1e7cc49f2e425a" /><Relationship Type="http://schemas.openxmlformats.org/officeDocument/2006/relationships/image" Target="/ppt/media/image4.png" Id="Rffba485259bc4ac0" /><Relationship Type="http://schemas.openxmlformats.org/officeDocument/2006/relationships/notesSlide" Target="/ppt/notesSlides/notesSlide7.xml" Id="Re8f81a34397046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6acddb94ee4395" /><Relationship Type="http://schemas.openxmlformats.org/officeDocument/2006/relationships/image" Target="/ppt/media/image5.png" Id="Rf0779e726cd041a4" /><Relationship Type="http://schemas.openxmlformats.org/officeDocument/2006/relationships/notesSlide" Target="/ppt/notesSlides/notesSlide8.xml" Id="R70e56a674627420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dfde8e2b744761" /><Relationship Type="http://schemas.openxmlformats.org/officeDocument/2006/relationships/notesSlide" Target="/ppt/notesSlides/notesSlide9.xml" Id="Ref7b00cc51754e6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1e010fe9e047fb" /><Relationship Type="http://schemas.openxmlformats.org/officeDocument/2006/relationships/image" Target="/ppt/media/image6.png" Id="Rf3d06cef7def4872" /><Relationship Type="http://schemas.openxmlformats.org/officeDocument/2006/relationships/notesSlide" Target="/ppt/notesSlides/notesSlide10.xml" Id="R99d878d42bef41b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a5d344595f4487" /><Relationship Type="http://schemas.openxmlformats.org/officeDocument/2006/relationships/image" Target="/ppt/media/image7.png" Id="R913d2d07da2642a6" /><Relationship Type="http://schemas.openxmlformats.org/officeDocument/2006/relationships/notesSlide" Target="/ppt/notesSlides/notesSlide11.xml" Id="R34ed931d28de4c2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5f7487d9b248d3" /><Relationship Type="http://schemas.openxmlformats.org/officeDocument/2006/relationships/chart" Target="/ppt/slides/charts/chart1.xml" Id="R430c966d4e024cc3" /><Relationship Type="http://schemas.openxmlformats.org/officeDocument/2006/relationships/notesSlide" Target="/ppt/notesSlides/notesSlide12.xml" Id="R3f961c50863f49b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6c56e041164fc5" /><Relationship Type="http://schemas.openxmlformats.org/officeDocument/2006/relationships/chart" Target="/ppt/slides/charts/chart2.xml" Id="R2bb6aa322fc4456b" /><Relationship Type="http://schemas.openxmlformats.org/officeDocument/2006/relationships/notesSlide" Target="/ppt/notesSlides/notesSlide13.xml" Id="R1d5e15faa584433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f695b793b5e44a0" /><Relationship Type="http://schemas.openxmlformats.org/officeDocument/2006/relationships/notesSlide" Target="/ppt/notesSlides/notesSlide14.xml" Id="R95d9b88475b7489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e1580b9cca3f4909" /><Relationship Type="http://schemas.openxmlformats.org/officeDocument/2006/relationships/notesSlide" Target="/ppt/notesSlides/notesSlide15.xml" Id="Re53cbb66e63d462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5c3ef6771742db" /><Relationship Type="http://schemas.openxmlformats.org/officeDocument/2006/relationships/image" Target="/ppt/media/image3.png" Id="R1017a14dc6eb4f98" /><Relationship Type="http://schemas.openxmlformats.org/officeDocument/2006/relationships/notesSlide" Target="/ppt/notesSlides/notesSlide16.xml" Id="Rd37db391395d4a1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通过项数</c:v>
          </c:tx>
          <c:spPr>
            <a:solidFill xmlns:a="http://schemas.openxmlformats.org/drawingml/2006/main">
              <a:srgbClr val="5EC4FF"/>
            </a:solidFill>
          </c:spPr>
          <c:cat>
            <c:strRef>
              <c:f>'Chart Data'!$A$2:$A$4</c:f>
              <c:strCache>
                <c:ptCount val="3"/>
                <c:pt idx="0">
                  <c:v>Maven</c:v>
                </c:pt>
                <c:pt idx="1">
                  <c:v>HTTP</c:v>
                </c:pt>
                <c:pt idx="2">
                  <c:v>浏览器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23</c:v>
                </c:pt>
                <c:pt idx="1">
                  <c:v>16</c:v>
                </c:pt>
                <c:pt idx="2">
                  <c:v>12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>
                  <a:latin typeface="Inter"/>
                  <a:ea typeface="Inter"/>
                  <a:cs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  <a:latin typeface="Inter"/>
                <a:ea typeface="Inter"/>
                <a:cs typeface="Inter"/>
              </a:defRPr>
            </a:pPr>
          </a:p>
        </c:txPr>
        <c:crossAx val="48672768"/>
      </c:catAx>
      <c:valAx>
        <c:axId val="48672768"/>
        <c:scaling>
          <c:orientation val="minMax"/>
          <c:max val="30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Inter"/>
                    <a:ea typeface="Inter"/>
                    <a:cs typeface="Inter"/>
                  </a:rPr>
                  <a:t>通过项数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Inter"/>
                  <a:ea typeface="Inter"/>
                  <a:cs typeface="Inter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  <a:latin typeface="Inter"/>
                <a:ea typeface="Inter"/>
                <a:cs typeface="Inter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P95 毫秒</c:v>
          </c:tx>
          <c:spPr>
            <a:solidFill xmlns:a="http://schemas.openxmlformats.org/drawingml/2006/main">
              <a:srgbClr val="5EC4FF"/>
            </a:solidFill>
          </c:spPr>
          <c:cat>
            <c:strRef>
              <c:f>'Chart Data'!$A$2:$A$5</c:f>
              <c:strCache>
                <c:ptCount val="4"/>
                <c:pt idx="0">
                  <c:v>健康明细</c:v>
                </c:pt>
                <c:pt idx="1">
                  <c:v>健康统计</c:v>
                </c:pt>
                <c:pt idx="2">
                  <c:v>首页</c:v>
                </c:pt>
                <c:pt idx="3">
                  <c:v>设备分布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363.27</c:v>
                </c:pt>
                <c:pt idx="1">
                  <c:v>386.37</c:v>
                </c:pt>
                <c:pt idx="2">
                  <c:v>1104.8</c:v>
                </c:pt>
                <c:pt idx="3">
                  <c:v>744.57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>
                  <a:latin typeface="Inter"/>
                  <a:ea typeface="Inter"/>
                  <a:cs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  <a:latin typeface="Inter"/>
                <a:ea typeface="Inter"/>
                <a:cs typeface="Inter"/>
              </a:defRPr>
            </a:pPr>
          </a:p>
        </c:txPr>
        <c:crossAx val="48672768"/>
      </c:catAx>
      <c:valAx>
        <c:axId val="48672768"/>
        <c:scaling>
          <c:orientation val="minMax"/>
          <c:max val="2000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Inter"/>
                    <a:ea typeface="Inter"/>
                    <a:cs typeface="Inter"/>
                  </a:rPr>
                  <a:t>P95 毫秒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Inter"/>
                  <a:ea typeface="Inter"/>
                  <a:cs typeface="Inter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  <a:latin typeface="Inter"/>
                <a:ea typeface="Inter"/>
                <a:cs typeface="Inter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94324DD7-B2A7-C70F-0160-11F227D46A0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26339" y="449662"/>
            <a:ext cx="6730425" cy="2401447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4650">
                <a:latin typeface="Inter"/>
                <a:ea typeface="Inter"/>
                <a:cs typeface="Inter"/>
              </a:defRPr>
            </a:pPr>
            <a:r>
              <a:rPr sz="4650">
                <a:solidFill>
                  <a:schemeClr val="accent6">
                    <a:lumMod val="75000"/>
                  </a:schemeClr>
                </a:solidFill>
                <a:latin typeface="Inter"/>
                <a:ea typeface="Inter"/>
                <a:cs typeface="Inter"/>
              </a:rPr>
              <a:t>智慧医养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4650">
                <a:latin typeface="Inter"/>
                <a:ea typeface="Inter"/>
                <a:cs typeface="Inter"/>
              </a:defRPr>
            </a:pPr>
            <a:r>
              <a:rPr sz="4650">
                <a:solidFill>
                  <a:schemeClr val="accent6">
                    <a:lumMod val="75000"/>
                  </a:schemeClr>
                </a:solidFill>
                <a:latin typeface="Inter"/>
                <a:ea typeface="Inter"/>
                <a:cs typeface="Inter"/>
              </a:rPr>
              <a:t>大数据决策分析系统</a:t>
            </a:r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43501A55-18E1-9822-7454-1E3D85380DC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42669" y="3564938"/>
            <a:ext cx="3758374" cy="61467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00">
                <a:latin typeface="Inter"/>
                <a:ea typeface="Inter"/>
                <a:cs typeface="Inter"/>
              </a:defRPr>
            </a:pPr>
            <a:r>
              <a:rPr sz="1800">
                <a:latin typeface="Inter"/>
                <a:ea typeface="Inter"/>
                <a:cs typeface="Inter"/>
              </a:rPr>
              <a:t>课程项目答辩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00">
                <a:latin typeface="Inter"/>
                <a:ea typeface="Inter"/>
                <a:cs typeface="Inter"/>
              </a:defRPr>
            </a:pPr>
            <a:r>
              <a:rPr sz="1800">
                <a:latin typeface="Inter"/>
                <a:ea typeface="Inter"/>
                <a:cs typeface="Inter"/>
              </a:rPr>
              <a:t>项目组 A B C D  姓名待补充</a:t>
            </a:r>
          </a:p>
        </p:txBody>
      </p:sp>
      <p:pic>
        <p:nvPicPr>
          <p:cNvPr id="9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4b68223b064e7d"/>
          <a:srcRect xmlns:a="http://schemas.openxmlformats.org/drawingml/2006/main" l="0" t="25645" r="0" b="614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4763386"/>
            <a:ext cx="12190542" cy="209461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49616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1">
            <a:extLst xmlns:a="http://schemas.openxmlformats.org/drawingml/2006/main">
              <a:ext uri="{FF2B5EF4-FFF2-40B4-BE49-F238E27FC236}">
                <a16:creationId xmlns:a16="http://schemas.microsoft.com/office/drawing/2014/main" id="{B3BD1300-E71C-732F-134B-B7EE0492A9B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FC59BB80-DF6A-0532-F91A-4A78B8E582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883398"/>
            <a:ext cx="7835900" cy="635159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2700">
                <a:latin typeface="Inter"/>
                <a:ea typeface="Inter"/>
                <a:cs typeface="Inter"/>
              </a:defRPr>
            </a:pPr>
            <a:r>
              <a:rPr sz="2700">
                <a:latin typeface="Inter"/>
                <a:ea typeface="Inter"/>
                <a:cs typeface="Inter"/>
              </a:rPr>
              <a:t>答辩内容</a:t>
            </a:r>
          </a:p>
        </p:txBody>
      </p:sp>
      <p:graphicFrame>
        <p:nvGraphicFramePr>
          <p:cNvPr id="9" name="Table 3"/>
          <p:cNvGraphicFramePr/>
          <p:nvPr/>
        </p:nvGraphicFramePr>
        <p:xfrm>
          <a:off xmlns:a="http://schemas.openxmlformats.org/drawingml/2006/main" x="393700" y="1689098"/>
          <a:ext xmlns:a="http://schemas.openxmlformats.org/drawingml/2006/main" cx="11404600" cy="43053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8509"/>
                <a:gridCol w="10526091"/>
              </a:tblGrid>
              <a:tr h="717550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025" b="0" i="0" u="none" cap="none" spc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Inter"/>
                          <a:ea typeface="Inter"/>
                          <a:cs typeface="Inter"/>
                        </a:rPr>
                        <a:t>01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025" b="0" i="0" u="none" cap="none" spc="0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Inter"/>
                          <a:ea typeface="Inter"/>
                          <a:cs typeface="Inter"/>
                        </a:rPr>
                        <a:t>项目范围与技术架构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17550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025" b="0" i="0" u="none" cap="none" spc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Inter"/>
                          <a:ea typeface="Inter"/>
                          <a:cs typeface="Inter"/>
                        </a:rPr>
                        <a:t>02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025" b="0" i="0" u="none" cap="none" spc="0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Inter"/>
                          <a:ea typeface="Inter"/>
                          <a:cs typeface="Inter"/>
                        </a:rPr>
                        <a:t>数据模型与权限设计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17550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025" b="0" i="0" u="none" cap="none" spc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Inter"/>
                          <a:ea typeface="Inter"/>
                          <a:cs typeface="Inter"/>
                        </a:rPr>
                        <a:t>03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025" b="0" i="0" u="none" cap="none" spc="0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Inter"/>
                          <a:ea typeface="Inter"/>
                          <a:cs typeface="Inter"/>
                        </a:rPr>
                        <a:t>八项功能及关键业务流程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17550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025" b="0" i="0" u="none" cap="none" spc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Inter"/>
                          <a:ea typeface="Inter"/>
                          <a:cs typeface="Inter"/>
                        </a:rPr>
                        <a:t>04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025" b="0" i="0" u="none" cap="none" spc="0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Inter"/>
                          <a:ea typeface="Inter"/>
                          <a:cs typeface="Inter"/>
                        </a:rPr>
                        <a:t>测试与性能验证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17550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025" b="0" i="0" u="none" cap="none" spc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Inter"/>
                          <a:ea typeface="Inter"/>
                          <a:cs typeface="Inter"/>
                        </a:rPr>
                        <a:t>05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025" b="0" i="0" u="none" cap="none" spc="0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Inter"/>
                          <a:ea typeface="Inter"/>
                          <a:cs typeface="Inter"/>
                        </a:rPr>
                        <a:t>四人分工与部署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17550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025" b="0" i="0" u="none" cap="none" spc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Inter"/>
                          <a:ea typeface="Inter"/>
                          <a:cs typeface="Inter"/>
                        </a:rPr>
                        <a:t>06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025" b="0" i="0" u="none" cap="none" spc="0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Inter"/>
                          <a:ea typeface="Inter"/>
                          <a:cs typeface="Inter"/>
                        </a:rPr>
                        <a:t>当前边界与后续工作</a:t>
                      </a:r>
                    </a:p>
                  </a:txBody>
                  <a:tcPr marL="0" marR="91440" marT="45720" marB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2FC4FC7-396D-BE8D-1F0E-C849A74CA5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91587740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C69FA6D2-2D50-9DC8-E5DD-C4C1EAE88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E7B2D062-27A4-4C85-912F-42FC88B4DB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9448800" cy="36691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3150">
                <a:latin typeface="Inter"/>
                <a:ea typeface="Inter"/>
                <a:cs typeface="Inter"/>
              </a:defRPr>
            </a:pPr>
            <a:r>
              <a:rPr sz="3150">
                <a:latin typeface="Inter"/>
                <a:ea typeface="Inter"/>
                <a:cs typeface="Inter"/>
              </a:rPr>
              <a:t>整合老人档案、健康检测、</a:t>
            </a:r>
            <a:endParaRPr sz="4800"/>
          </a:p>
          <a:p xmlns:a="http://schemas.openxmlformats.org/drawingml/2006/main">
            <a:pPr>
              <a:lnSpc>
                <a:spcPct val="118000"/>
              </a:lnSpc>
              <a:buNone/>
              <a:defRPr sz="3150">
                <a:latin typeface="Inter"/>
                <a:ea typeface="Inter"/>
                <a:cs typeface="Inter"/>
              </a:defRPr>
            </a:pPr>
            <a:r>
              <a:rPr sz="3150">
                <a:latin typeface="Inter"/>
                <a:ea typeface="Inter"/>
                <a:cs typeface="Inter"/>
              </a:rPr>
              <a:t>医生随访和腕表定位，</a:t>
            </a:r>
            <a:endParaRPr sz="4800"/>
          </a:p>
          <a:p xmlns:a="http://schemas.openxmlformats.org/drawingml/2006/main">
            <a:pPr>
              <a:lnSpc>
                <a:spcPct val="118000"/>
              </a:lnSpc>
              <a:buNone/>
              <a:defRPr sz="3150">
                <a:latin typeface="Inter"/>
                <a:ea typeface="Inter"/>
                <a:cs typeface="Inter"/>
              </a:defRPr>
            </a:pPr>
            <a:r>
              <a:rPr sz="3150">
                <a:latin typeface="Inter"/>
                <a:ea typeface="Inter"/>
                <a:cs typeface="Inter"/>
              </a:rPr>
              <a:t>支持医养服务统计分析</a:t>
            </a:r>
            <a:endParaRPr sz="4800"/>
          </a:p>
        </p:txBody>
      </p:sp>
      <p:sp>
        <p:nvSpPr>
          <p:cNvPr id="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45D116A3-5F26-E766-2FA6-F7F59839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826000"/>
            <a:ext cx="3568700" cy="116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功能范围</a:t>
            </a: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登录与首页，人口与健康统计。</a:t>
            </a: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随访、腕表、围栏与轨迹。</a:t>
            </a:r>
          </a:p>
        </p:txBody>
      </p:sp>
      <p:sp>
        <p:nvSpPr>
          <p:cNvPr id="7" name="Text Placeholder 16">
            <a:extLst xmlns:a="http://schemas.openxmlformats.org/drawingml/2006/main">
              <a:ext uri="{FF2B5EF4-FFF2-40B4-BE49-F238E27FC236}">
                <a16:creationId xmlns:a16="http://schemas.microsoft.com/office/drawing/2014/main" id="{D7F79475-D2E6-1673-5BE0-6CAB7E3D8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26000"/>
            <a:ext cx="3568700" cy="116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演示边界</a:t>
            </a: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虚构数据，单单位管理。</a:t>
            </a: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离线坐标画布。</a:t>
            </a:r>
          </a:p>
        </p:txBody>
      </p:sp>
      <p:sp>
        <p:nvSpPr>
          <p:cNvPr id="8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E99A300F-A62D-2D4C-A8CC-7A2B40C7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356100"/>
            <a:ext cx="257187" cy="257089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chemeClr val="accent5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9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9715BEEB-6A24-7E57-79F9-6DC76158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4158" y="4356100"/>
            <a:ext cx="257187" cy="257089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chemeClr val="accent5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" name="Footer Placeholder 1">
            <a:extLst xmlns:a="http://schemas.openxmlformats.org/drawingml/2006/main">
              <a:ext uri="{FF2B5EF4-FFF2-40B4-BE49-F238E27FC236}">
                <a16:creationId xmlns:a16="http://schemas.microsoft.com/office/drawing/2014/main" id="{1C1C27E6-B24A-134D-A33B-2CE33CAE57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</p:spTree>
    <p:extLst>
      <p:ext uri="{BB962C8B-B14F-4D97-AF65-F5344CB8AC3E}">
        <p14:creationId xmlns:p14="http://schemas.microsoft.com/office/powerpoint/2010/main" val="47352099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40C911A7-2999-5B10-850F-7785C571AE5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5537200" cy="164318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/>
                <a:ea typeface="Inter"/>
                <a:cs typeface="Inter"/>
              </a:rPr>
              <a:t>展示层</a:t>
            </a:r>
          </a:p>
          <a:p xmlns:a="http://schemas.openxmlformats.org/drawingml/2006/main">
            <a:pPr marL="0" marR="0" lvl="0" indent="0" algn="l" defTabSz="91440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/>
                <a:ea typeface="Inter"/>
                <a:cs typeface="Inter"/>
              </a:rPr>
              <a:t>Vue 3 页面与 ECharts 图表。</a:t>
            </a:r>
          </a:p>
          <a:p xmlns:a="http://schemas.openxmlformats.org/drawingml/2006/main">
            <a:pPr marL="0" marR="0" lvl="0" indent="0" algn="l" defTabSz="91440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/>
                <a:ea typeface="Inter"/>
                <a:cs typeface="Inter"/>
              </a:rPr>
              <a:t>GeoCanvas 提供坐标与轨迹交互。</a:t>
            </a:r>
          </a:p>
        </p:txBody>
      </p:sp>
      <p:sp>
        <p:nvSpPr>
          <p:cNvPr id="2" name="Slide Number Placeholder 1">
            <a:extLst xmlns:a="http://schemas.openxmlformats.org/drawingml/2006/main">
              <a:ext uri="{FF2B5EF4-FFF2-40B4-BE49-F238E27FC236}">
                <a16:creationId xmlns:a16="http://schemas.microsoft.com/office/drawing/2014/main" id="{6B79DB2A-CC47-00B8-FE1C-26473E47EA9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591DE77-626F-6364-307D-6A3CECC3E0AC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6256618" y="2032000"/>
            <a:ext cx="5537200" cy="164318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/>
                <a:ea typeface="Inter"/>
                <a:cs typeface="Inter"/>
              </a:rPr>
              <a:t>服务层</a:t>
            </a:r>
          </a:p>
          <a:p xmlns:a="http://schemas.openxmlformats.org/drawingml/2006/main">
            <a:pPr marL="0" marR="0" lvl="0" indent="0" algn="l" defTabSz="91440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/>
                <a:ea typeface="Inter"/>
                <a:cs typeface="Inter"/>
              </a:rPr>
              <a:t>Spring MVC 接口、Spring 事务。</a:t>
            </a:r>
          </a:p>
          <a:p xmlns:a="http://schemas.openxmlformats.org/drawingml/2006/main">
            <a:pPr marL="0" marR="0" lvl="0" indent="0" algn="l" defTabSz="91440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/>
                <a:ea typeface="Inter"/>
                <a:cs typeface="Inter"/>
              </a:rPr>
              <a:t>Spring Security 管理会话与权限。</a:t>
            </a:r>
          </a:p>
        </p:txBody>
      </p:sp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89BFFB18-4CB5-6BE2-9B1E-49B4101293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7835900" cy="1040292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2700">
                <a:latin typeface="Inter"/>
                <a:ea typeface="Inter"/>
                <a:cs typeface="Inter"/>
              </a:defRPr>
            </a:pPr>
            <a:r>
              <a:rPr sz="2700">
                <a:latin typeface="Inter"/>
                <a:ea typeface="Inter"/>
                <a:cs typeface="Inter"/>
              </a:rPr>
              <a:t>系统分层架构</a:t>
            </a:r>
          </a:p>
        </p:txBody>
      </p:sp>
      <p:sp>
        <p:nvSpPr>
          <p:cNvPr id="4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5FBFFE27-6CE4-D49E-8371-7F40817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数据访问层</a:t>
            </a: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MyBatis-Plus 处理基础 CRUD。</a:t>
            </a:r>
            <a:endParaRPr sz="18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MyBatis XML 完成聚合统计。</a:t>
            </a:r>
            <a:endParaRPr sz="18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D6F50C40-7DBA-55A3-751E-00E97654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存储与构建</a:t>
            </a: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MySQL 保存 16 张业务表。</a:t>
            </a:r>
            <a:endParaRPr sz="18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Maven 将前后端打成可执行 JAR。</a:t>
            </a:r>
            <a:endParaRPr sz="18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79D819C-33DB-D779-0CC9-74786C7AA64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6014548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27489CDA-073D-5D98-B832-86AD74222B7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08EBC4B8-BBC1-7C2A-F77D-BEC6394B0F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7835900" cy="58158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2700">
                <a:latin typeface="Inter"/>
                <a:ea typeface="Inter"/>
                <a:cs typeface="Inter"/>
              </a:defRPr>
            </a:pPr>
            <a:r>
              <a:rPr sz="2700">
                <a:latin typeface="Inter"/>
                <a:ea typeface="Inter"/>
                <a:cs typeface="Inter"/>
              </a:rPr>
              <a:t>16 张表支撑业务历史</a:t>
            </a:r>
            <a:endParaRPr/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D81689CF-E5CF-3072-801D-DC2D321D4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057501"/>
            <a:ext cx="11404599" cy="1012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数据模型</a:t>
            </a:r>
          </a:p>
          <a:p xmlns:a="http://schemas.openxmlformats.org/drawingml/2006/main">
            <a:pPr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档案关联业务记录，绑定保存历史归属，围栏状态与告警事件分别存储。</a:t>
            </a:r>
          </a:p>
        </p:txBody>
      </p:sp>
      <p:graphicFrame>
        <p:nvGraphicFramePr>
          <p:cNvPr id="538" name="Google Shape;644;p93"/>
          <p:cNvGraphicFramePr/>
          <p:nvPr/>
        </p:nvGraphicFramePr>
        <p:xfrm>
          <a:off xmlns:a="http://schemas.openxmlformats.org/drawingml/2006/main" x="393700" y="2251080"/>
          <a:ext xmlns:a="http://schemas.openxmlformats.org/drawingml/2006/main" cx="11404599" cy="3932614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3906063"/>
                <a:gridCol w="1874634"/>
                <a:gridCol w="1874634"/>
                <a:gridCol w="1874634"/>
                <a:gridCol w="1874634"/>
              </a:tblGrid>
              <a:tr h="437022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 b="1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Inter"/>
                          <a:ea typeface="Inter"/>
                          <a:cs typeface="Inter"/>
                        </a:rPr>
                        <a:t>数据组</a:t>
                      </a:r>
                      <a:endParaRPr sz="1400" b="1">
                        <a:solidFill>
                          <a:schemeClr val="accent5">
                            <a:lumMod val="50000"/>
                          </a:schemeClr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75" b="1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Inter"/>
                          <a:ea typeface="Inter"/>
                          <a:cs typeface="Inter"/>
                        </a:rPr>
                        <a:t>实体一</a:t>
                      </a:r>
                      <a:endParaRPr sz="1400" b="1">
                        <a:solidFill>
                          <a:schemeClr val="accent5">
                            <a:lumMod val="50000"/>
                          </a:schemeClr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 b="1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Inter"/>
                          <a:ea typeface="Inter"/>
                          <a:cs typeface="Inter"/>
                        </a:rPr>
                        <a:t>实体二</a:t>
                      </a:r>
                      <a:endParaRPr sz="1400" b="1">
                        <a:solidFill>
                          <a:schemeClr val="accent5">
                            <a:lumMod val="50000"/>
                          </a:schemeClr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75" b="1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Inter"/>
                          <a:ea typeface="Inter"/>
                          <a:cs typeface="Inter"/>
                        </a:rPr>
                        <a:t>关联</a:t>
                      </a:r>
                      <a:endParaRPr sz="1400" b="1">
                        <a:solidFill>
                          <a:schemeClr val="accent5">
                            <a:lumMod val="50000"/>
                          </a:schemeClr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75" b="1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Inter"/>
                          <a:ea typeface="Inter"/>
                          <a:cs typeface="Inter"/>
                        </a:rPr>
                        <a:t>核心约束</a:t>
                      </a:r>
                      <a:endParaRPr sz="1400" b="1">
                        <a:solidFill>
                          <a:schemeClr val="accent5">
                            <a:lumMod val="50000"/>
                          </a:schemeClr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身份地区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sys_user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region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账号与地区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三角色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服务对象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elder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doctor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档案主数据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业务编码唯一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健康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health_rule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health_record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规则快照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来源事件唯一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随访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followup_plan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followup_record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一对零或一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计划唯一完成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设备绑定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watch_device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device_binding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历史关联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有效绑定唯一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空间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location_point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geofence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点与圆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坐标半径校验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围栏监测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geofence_member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geofence_state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一对零或一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成员状态唯一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事件审计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geofence_alert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audit_log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处理留痕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275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</a:rPr>
                        <a:t>外键保护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B8357537-167D-0462-A21D-DD8E87444BE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2985487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4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92B9D060-8F6B-685E-C699-7CF3FDA228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1722684"/>
            <a:ext cx="5537200" cy="86542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三种角色，后端统一鉴权</a:t>
            </a:r>
            <a:endParaRPr>
              <a:latin typeface="Inter"/>
              <a:ea typeface="Inter"/>
              <a:cs typeface="Inter"/>
            </a:endParaRPr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787BCE7D-BEA2-12A4-00CE-1447A3C11BC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451E053B-8CD7-DAF7-BA60-B58D00D61D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7835900" cy="1040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2700">
                <a:latin typeface="Inter"/>
                <a:ea typeface="Inter"/>
                <a:cs typeface="Inter"/>
              </a:defRPr>
            </a:pPr>
            <a:r>
              <a:rPr sz="2700">
                <a:latin typeface="Inter"/>
                <a:ea typeface="Inter"/>
                <a:cs typeface="Inter"/>
              </a:rPr>
              <a:t>登录与权限设计</a:t>
            </a:r>
            <a:endParaRPr/>
          </a:p>
        </p:txBody>
      </p:sp>
      <p:sp>
        <p:nvSpPr>
          <p:cNvPr id="2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F1357382-F889-8A40-7C64-C4E276E6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90317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服务端 Session 与 CSRF</a:t>
            </a:r>
          </a:p>
        </p:txBody>
      </p:sp>
      <p:sp>
        <p:nvSpPr>
          <p:cNvPr id="3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DECE1942-1885-9577-DF5F-685A8B1C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3015150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0BD0609-EAC0-DFEC-8761-6C5A72DB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990316"/>
            <a:ext cx="5537200" cy="28846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/>
                <a:ea typeface="Inter"/>
                <a:cs typeface="Inter"/>
              </a:rPr>
              <a:t>ADMIN 管理账号与全部业务；OPERATOR 维护业务；ANALYST 只读查询。</a:t>
            </a:r>
          </a:p>
          <a:p xmlns:a="http://schemas.openxmlformats.org/drawingml/2006/main">
            <a:pPr marL="0" marR="0" lvl="0" indent="0" algn="l" defTabSz="91440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/>
                <a:ea typeface="Inter"/>
                <a:cs typeface="Inter"/>
              </a:rPr>
              <a:t>密码使用 BCrypt，退出使会话失效。角色或密码变化后，旧认证版本失效。</a:t>
            </a:r>
          </a:p>
        </p:txBody>
      </p:sp>
      <p:sp>
        <p:nvSpPr>
          <p:cNvPr id="16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01B260BF-9264-3C70-DF2D-2E6EA83A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99916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电话响应脱敏</a:t>
            </a:r>
          </a:p>
        </p:txBody>
      </p:sp>
      <p:sp>
        <p:nvSpPr>
          <p:cNvPr id="17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A6CF1E9A-BF4C-E7B2-D556-8AB5FB2B6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3624749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FE696631-18B5-8115-E5AD-ACCFD622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14765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保留最后管理员</a:t>
            </a:r>
          </a:p>
        </p:txBody>
      </p:sp>
      <p:sp>
        <p:nvSpPr>
          <p:cNvPr id="19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6ECBDA1E-6C7D-6B0F-A430-DF8A0965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4239598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FC4B09F-4593-687E-52A3-7E683F7FE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24364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写入字段白名单</a:t>
            </a:r>
          </a:p>
        </p:txBody>
      </p:sp>
      <p:sp>
        <p:nvSpPr>
          <p:cNvPr id="21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006032E6-DDFC-FA22-4D08-3BFFC755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4849197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EDAB1F81-E12B-29DC-E09F-27F129E4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446664"/>
            <a:ext cx="3911600" cy="54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演示入口限定 demo</a:t>
            </a:r>
          </a:p>
        </p:txBody>
      </p:sp>
      <p:sp>
        <p:nvSpPr>
          <p:cNvPr id="24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A052337A-4696-49F7-A089-E21DA71AD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25" y="5471497"/>
            <a:ext cx="212551" cy="212470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C44867F-CEA9-06EF-47ED-8F63A6DAE6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33187913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4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F0D982DB-B102-71B9-EDF4-3738A0B3680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1638300"/>
            <a:ext cx="3568700" cy="43560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总览与人口</a:t>
            </a:r>
            <a:endParaRPr sz="1600">
              <a:latin typeface="Inter"/>
              <a:ea typeface="Inter"/>
              <a:cs typeface="Inter"/>
            </a:endParaRP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按地区、日期查看服务概况。</a:t>
            </a:r>
            <a:endParaRPr sz="1600">
              <a:latin typeface="Inter"/>
              <a:ea typeface="Inter"/>
              <a:cs typeface="Inter"/>
            </a:endParaRP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人口按年龄、性别和地区分组，未知信息单独统计。</a:t>
            </a: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卡片与明细由实际 API 提供。</a:t>
            </a:r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3D911AFA-A941-75BF-FE8A-5289E197747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4C055269-43CF-5537-A1B0-DC932A8FB1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3568700" cy="900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2700">
                <a:latin typeface="Inter"/>
                <a:ea typeface="Inter"/>
                <a:cs typeface="Inter"/>
              </a:defRPr>
            </a:pPr>
            <a:r>
              <a:rPr sz="2700">
                <a:latin typeface="Inter"/>
                <a:ea typeface="Inter"/>
                <a:cs typeface="Inter"/>
              </a:rPr>
              <a:t>首页与人口统计</a:t>
            </a:r>
            <a:endParaRPr/>
          </a:p>
        </p:txBody>
      </p:sp>
      <p:sp>
        <p:nvSpPr>
          <p:cNvPr id="2" name="object 3">
            <a:extLst xmlns:a="http://schemas.openxmlformats.org/drawingml/2006/main">
              <a:ext uri="{FF2B5EF4-FFF2-40B4-BE49-F238E27FC236}">
                <a16:creationId xmlns:a16="http://schemas.microsoft.com/office/drawing/2014/main" id="{5FDA4427-F2DF-5DB2-AE39-D904C1046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7896"/>
            <a:ext cx="7499261" cy="5606415"/>
          </a:xfrm>
          <a:custGeom xmlns:a="http://schemas.openxmlformats.org/drawingml/2006/main">
            <a:rect l="l" t="t" r="r" b="b"/>
            <a:pathLst>
              <a:path w="7386319" h="7475220">
                <a:moveTo>
                  <a:pt x="7385710" y="0"/>
                </a:moveTo>
                <a:lnTo>
                  <a:pt x="0" y="0"/>
                </a:lnTo>
                <a:lnTo>
                  <a:pt x="0" y="7474610"/>
                </a:lnTo>
                <a:lnTo>
                  <a:pt x="7385710" y="7474610"/>
                </a:lnTo>
                <a:lnTo>
                  <a:pt x="7385710" y="0"/>
                </a:lnTo>
                <a:close/>
              </a:path>
            </a:pathLst>
          </a:custGeom>
          <a:solidFill xmlns:a="http://schemas.openxmlformats.org/drawingml/2006/main">
            <a:srgbClr val="EDED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 sz="1350"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4612A72-3676-A3F7-8578-975B86130C8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  <p:pic>
        <p:nvPicPr>
          <p:cNvPr id="5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ba485259bc4ac0"/>
          <a:stretch xmlns:a="http://schemas.openxmlformats.org/drawingml/2006/main"/>
        </p:blipFill>
        <p:spPr>
          <a:xfrm xmlns:a="http://schemas.openxmlformats.org/drawingml/2006/main">
            <a:off x="4305300" y="592062"/>
            <a:ext cx="7503509" cy="5210770"/>
          </a:xfrm>
          <a:prstGeom xmlns:a="http://schemas.openxmlformats.org/drawingml/2006/main" prst="roundRect">
            <a:avLst>
              <a:gd name="adj" fmla="val 1360"/>
            </a:avLst>
          </a:prstGeom>
        </p:spPr>
      </p:pic>
    </p:spTree>
    <p:extLst>
      <p:ext uri="{BB962C8B-B14F-4D97-AF65-F5344CB8AC3E}">
        <p14:creationId xmlns:p14="http://schemas.microsoft.com/office/powerpoint/2010/main" val="365731922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4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F0D982DB-B102-71B9-EDF4-3738A0B3680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1638300"/>
            <a:ext cx="3568700" cy="43560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检测与趋势</a:t>
            </a:r>
            <a:endParaRPr sz="1600">
              <a:latin typeface="Inter"/>
              <a:ea typeface="Inter"/>
              <a:cs typeface="Inter"/>
            </a:endParaRP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区分检测次数、检测人数和异常人数。</a:t>
            </a:r>
            <a:endParaRPr sz="1600">
              <a:latin typeface="Inter"/>
              <a:ea typeface="Inter"/>
              <a:cs typeface="Inter"/>
            </a:endParaRP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保存教学规则版本与快照，缺测保持为空。</a:t>
            </a: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支持单个老人的指标趋势。</a:t>
            </a:r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3D911AFA-A941-75BF-FE8A-5289E197747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4C055269-43CF-5537-A1B0-DC932A8FB1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3568700" cy="900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2700">
                <a:latin typeface="Inter"/>
                <a:ea typeface="Inter"/>
                <a:cs typeface="Inter"/>
              </a:defRPr>
            </a:pPr>
            <a:r>
              <a:rPr sz="2700">
                <a:latin typeface="Inter"/>
                <a:ea typeface="Inter"/>
                <a:cs typeface="Inter"/>
              </a:rPr>
              <a:t>健康检测分析</a:t>
            </a:r>
            <a:endParaRPr/>
          </a:p>
        </p:txBody>
      </p:sp>
      <p:sp>
        <p:nvSpPr>
          <p:cNvPr id="2" name="object 3">
            <a:extLst xmlns:a="http://schemas.openxmlformats.org/drawingml/2006/main">
              <a:ext uri="{FF2B5EF4-FFF2-40B4-BE49-F238E27FC236}">
                <a16:creationId xmlns:a16="http://schemas.microsoft.com/office/drawing/2014/main" id="{5FDA4427-F2DF-5DB2-AE39-D904C1046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7896"/>
            <a:ext cx="7499261" cy="5606415"/>
          </a:xfrm>
          <a:custGeom xmlns:a="http://schemas.openxmlformats.org/drawingml/2006/main">
            <a:rect l="l" t="t" r="r" b="b"/>
            <a:pathLst>
              <a:path w="7386319" h="7475220">
                <a:moveTo>
                  <a:pt x="7385710" y="0"/>
                </a:moveTo>
                <a:lnTo>
                  <a:pt x="0" y="0"/>
                </a:lnTo>
                <a:lnTo>
                  <a:pt x="0" y="7474610"/>
                </a:lnTo>
                <a:lnTo>
                  <a:pt x="7385710" y="7474610"/>
                </a:lnTo>
                <a:lnTo>
                  <a:pt x="7385710" y="0"/>
                </a:lnTo>
                <a:close/>
              </a:path>
            </a:pathLst>
          </a:custGeom>
          <a:solidFill xmlns:a="http://schemas.openxmlformats.org/drawingml/2006/main">
            <a:srgbClr val="EDED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 sz="1350"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4612A72-3676-A3F7-8578-975B86130C8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  <p:pic>
        <p:nvPicPr>
          <p:cNvPr id="5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779e726cd041a4"/>
          <a:stretch xmlns:a="http://schemas.openxmlformats.org/drawingml/2006/main"/>
        </p:blipFill>
        <p:spPr>
          <a:xfrm xmlns:a="http://schemas.openxmlformats.org/drawingml/2006/main">
            <a:off x="4305300" y="592062"/>
            <a:ext cx="7503509" cy="5210770"/>
          </a:xfrm>
          <a:prstGeom xmlns:a="http://schemas.openxmlformats.org/drawingml/2006/main" prst="roundRect">
            <a:avLst>
              <a:gd name="adj" fmla="val 1360"/>
            </a:avLst>
          </a:prstGeom>
        </p:spPr>
      </p:pic>
    </p:spTree>
    <p:extLst>
      <p:ext uri="{BB962C8B-B14F-4D97-AF65-F5344CB8AC3E}">
        <p14:creationId xmlns:p14="http://schemas.microsoft.com/office/powerpoint/2010/main" val="365731922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52A30403-4B2D-2E15-7A2F-51A6DF6BE5D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0A2BB6CD-1085-4638-68F3-7000FD29EA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11404600" cy="58158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2700">
                <a:latin typeface="Inter"/>
                <a:ea typeface="Inter"/>
                <a:cs typeface="Inter"/>
              </a:defRPr>
            </a:pPr>
            <a:r>
              <a:rPr sz="2700">
                <a:latin typeface="Inter"/>
                <a:ea typeface="Inter"/>
                <a:cs typeface="Inter"/>
              </a:rPr>
              <a:t>随访计划与完成率</a:t>
            </a:r>
            <a:endParaRPr/>
          </a:p>
        </p:txBody>
      </p:sp>
      <p:sp>
        <p:nvSpPr>
          <p:cNvPr id="2" name="Rounded Rectangle 1">
            <a:extLst xmlns:a="http://schemas.openxmlformats.org/drawingml/2006/main">
              <a:ext uri="{FF2B5EF4-FFF2-40B4-BE49-F238E27FC236}">
                <a16:creationId xmlns:a16="http://schemas.microsoft.com/office/drawing/2014/main" id="{390FBCE0-CCE2-0D7F-19D7-0DA59E2F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13" y="3025321"/>
            <a:ext cx="5533887" cy="132080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accent5">
              <a:lumMod val="40000"/>
              <a:lumOff val="6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31291836-42DE-4BA2-7C66-683137F1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48" y="3274205"/>
            <a:ext cx="4986886" cy="8777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计划按到期时间进入分母。</a:t>
            </a: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截至查询截止时完成的计划进入分子。</a:t>
            </a:r>
          </a:p>
        </p:txBody>
      </p:sp>
      <p:sp>
        <p:nvSpPr>
          <p:cNvPr id="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3D399E38-72C8-159B-DE08-FC689A75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48" y="4514850"/>
            <a:ext cx="5236652" cy="9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lvl="0" indent="-22860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创建计划</a:t>
            </a:r>
          </a:p>
          <a:p xmlns:a="http://schemas.openxmlformats.org/drawingml/2006/main">
            <a:pPr marL="228600" lvl="0" indent="-22860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完成或取消</a:t>
            </a:r>
          </a:p>
          <a:p xmlns:a="http://schemas.openxmlformats.org/drawingml/2006/main">
            <a:pPr marL="228600" lvl="0" indent="-22860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保留历史结果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E1586E9-BDFD-E84E-20C0-875E339D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85" y="3025321"/>
            <a:ext cx="5533887" cy="1320801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accent5">
              <a:lumMod val="40000"/>
              <a:lumOff val="6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BDE93465-12EE-49A8-048B-A3C97C2D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20" y="3274205"/>
            <a:ext cx="4986886" cy="8777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零分母返回空值。</a:t>
            </a: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页面显示无计划，避免显示虚假的 100%。</a:t>
            </a:r>
          </a:p>
        </p:txBody>
      </p:sp>
      <p:sp>
        <p:nvSpPr>
          <p:cNvPr id="13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0F1EA821-AA26-C1FC-F948-D100ABDE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20" y="4514850"/>
            <a:ext cx="5236652" cy="97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lvl="0" indent="-22860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逾期未完成</a:t>
            </a:r>
          </a:p>
          <a:p xmlns:a="http://schemas.openxmlformats.org/drawingml/2006/main">
            <a:pPr marL="228600" lvl="0" indent="-22860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逾期完成</a:t>
            </a:r>
          </a:p>
          <a:p xmlns:a="http://schemas.openxmlformats.org/drawingml/2006/main">
            <a:pPr marL="228600" lvl="0" indent="-22860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取消单列</a:t>
            </a:r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53566714-9098-3B48-6D62-954DC695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157513"/>
            <a:ext cx="11404599" cy="16292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统计口径</a:t>
            </a:r>
          </a:p>
          <a:p xmlns:a="http://schemas.openxmlformats.org/drawingml/2006/main">
            <a:pPr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同一计划最多一条完成记录。完成操作在事务中锁定计划、写结果并更新状态。</a:t>
            </a:r>
          </a:p>
        </p:txBody>
      </p:sp>
      <p:sp>
        <p:nvSpPr>
          <p:cNvPr id="2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E7F409CA-A992-D5A3-DF49-49CFA53E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5617936"/>
            <a:ext cx="11404599" cy="529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完成率 = 已完成计划数 ÷ 有效应随访计划数。截止时刻取查询结束与当前时间的较早值。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2BAAA24-F157-F288-22D7-97AEA157EFE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46245865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4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F0D982DB-B102-71B9-EDF4-3738A0B3680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1638300"/>
            <a:ext cx="3568700" cy="43560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设备与越界</a:t>
            </a:r>
            <a:endParaRPr sz="1600">
              <a:latin typeface="Inter"/>
              <a:ea typeface="Inter"/>
              <a:cs typeface="Inter"/>
            </a:endParaRP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设备绑定老人，定位保留发生时的绑定历史。</a:t>
            </a:r>
            <a:endParaRPr sz="1600">
              <a:latin typeface="Inter"/>
              <a:ea typeface="Inter"/>
              <a:cs typeface="Inter"/>
            </a:endParaRP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圆形围栏用球面距离判断越界，连续在外只产生一次事件。</a:t>
            </a: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人工处理和实际返回分别记录。</a:t>
            </a:r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3D911AFA-A941-75BF-FE8A-5289E197747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4C055269-43CF-5537-A1B0-DC932A8FB1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3568700" cy="900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2700">
                <a:latin typeface="Inter"/>
                <a:ea typeface="Inter"/>
                <a:cs typeface="Inter"/>
              </a:defRPr>
            </a:pPr>
            <a:r>
              <a:rPr sz="2700">
                <a:latin typeface="Inter"/>
                <a:ea typeface="Inter"/>
                <a:cs typeface="Inter"/>
              </a:rPr>
              <a:t>腕表与电子围栏</a:t>
            </a:r>
            <a:endParaRPr/>
          </a:p>
        </p:txBody>
      </p:sp>
      <p:sp>
        <p:nvSpPr>
          <p:cNvPr id="2" name="object 3">
            <a:extLst xmlns:a="http://schemas.openxmlformats.org/drawingml/2006/main">
              <a:ext uri="{FF2B5EF4-FFF2-40B4-BE49-F238E27FC236}">
                <a16:creationId xmlns:a16="http://schemas.microsoft.com/office/drawing/2014/main" id="{5FDA4427-F2DF-5DB2-AE39-D904C1046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7896"/>
            <a:ext cx="7499261" cy="5606415"/>
          </a:xfrm>
          <a:custGeom xmlns:a="http://schemas.openxmlformats.org/drawingml/2006/main">
            <a:rect l="l" t="t" r="r" b="b"/>
            <a:pathLst>
              <a:path w="7386319" h="7475220">
                <a:moveTo>
                  <a:pt x="7385710" y="0"/>
                </a:moveTo>
                <a:lnTo>
                  <a:pt x="0" y="0"/>
                </a:lnTo>
                <a:lnTo>
                  <a:pt x="0" y="7474610"/>
                </a:lnTo>
                <a:lnTo>
                  <a:pt x="7385710" y="7474610"/>
                </a:lnTo>
                <a:lnTo>
                  <a:pt x="7385710" y="0"/>
                </a:lnTo>
                <a:close/>
              </a:path>
            </a:pathLst>
          </a:custGeom>
          <a:solidFill xmlns:a="http://schemas.openxmlformats.org/drawingml/2006/main">
            <a:srgbClr val="EDED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 sz="1350"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4612A72-3676-A3F7-8578-975B86130C8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  <p:pic>
        <p:nvPicPr>
          <p:cNvPr id="5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d06cef7def4872"/>
          <a:stretch xmlns:a="http://schemas.openxmlformats.org/drawingml/2006/main"/>
        </p:blipFill>
        <p:spPr>
          <a:xfrm xmlns:a="http://schemas.openxmlformats.org/drawingml/2006/main">
            <a:off x="4305300" y="592062"/>
            <a:ext cx="7503509" cy="5210770"/>
          </a:xfrm>
          <a:prstGeom xmlns:a="http://schemas.openxmlformats.org/drawingml/2006/main" prst="roundRect">
            <a:avLst>
              <a:gd name="adj" fmla="val 1360"/>
            </a:avLst>
          </a:prstGeom>
        </p:spPr>
      </p:pic>
    </p:spTree>
    <p:extLst>
      <p:ext uri="{BB962C8B-B14F-4D97-AF65-F5344CB8AC3E}">
        <p14:creationId xmlns:p14="http://schemas.microsoft.com/office/powerpoint/2010/main" val="365731922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4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F0D982DB-B102-71B9-EDF4-3738A0B3680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1638300"/>
            <a:ext cx="3568700" cy="43560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按时间还原</a:t>
            </a:r>
            <a:endParaRPr sz="1600">
              <a:latin typeface="Inter"/>
              <a:ea typeface="Inter"/>
              <a:cs typeface="Inter"/>
            </a:endParaRP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支持播放、暂停、倍速和进度调整。</a:t>
            </a:r>
            <a:endParaRPr sz="1600">
              <a:latin typeface="Inter"/>
              <a:ea typeface="Inter"/>
              <a:cs typeface="Inter"/>
            </a:endParaRP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查询最多 24 小时、5000 点。</a:t>
            </a: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超过 10 分钟的定位缺口断线显示。</a:t>
            </a:r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3D911AFA-A941-75BF-FE8A-5289E197747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4C055269-43CF-5537-A1B0-DC932A8FB1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3568700" cy="900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2700">
                <a:latin typeface="Inter"/>
                <a:ea typeface="Inter"/>
                <a:cs typeface="Inter"/>
              </a:defRPr>
            </a:pPr>
            <a:r>
              <a:rPr sz="2700">
                <a:latin typeface="Inter"/>
                <a:ea typeface="Inter"/>
                <a:cs typeface="Inter"/>
              </a:rPr>
              <a:t>轨迹回放</a:t>
            </a:r>
            <a:endParaRPr/>
          </a:p>
        </p:txBody>
      </p:sp>
      <p:sp>
        <p:nvSpPr>
          <p:cNvPr id="2" name="object 3">
            <a:extLst xmlns:a="http://schemas.openxmlformats.org/drawingml/2006/main">
              <a:ext uri="{FF2B5EF4-FFF2-40B4-BE49-F238E27FC236}">
                <a16:creationId xmlns:a16="http://schemas.microsoft.com/office/drawing/2014/main" id="{5FDA4427-F2DF-5DB2-AE39-D904C1046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7896"/>
            <a:ext cx="7499261" cy="5606415"/>
          </a:xfrm>
          <a:custGeom xmlns:a="http://schemas.openxmlformats.org/drawingml/2006/main">
            <a:rect l="l" t="t" r="r" b="b"/>
            <a:pathLst>
              <a:path w="7386319" h="7475220">
                <a:moveTo>
                  <a:pt x="7385710" y="0"/>
                </a:moveTo>
                <a:lnTo>
                  <a:pt x="0" y="0"/>
                </a:lnTo>
                <a:lnTo>
                  <a:pt x="0" y="7474610"/>
                </a:lnTo>
                <a:lnTo>
                  <a:pt x="7385710" y="7474610"/>
                </a:lnTo>
                <a:lnTo>
                  <a:pt x="7385710" y="0"/>
                </a:lnTo>
                <a:close/>
              </a:path>
            </a:pathLst>
          </a:custGeom>
          <a:solidFill xmlns:a="http://schemas.openxmlformats.org/drawingml/2006/main">
            <a:srgbClr val="EDEDE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 sz="1350"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4612A72-3676-A3F7-8578-975B86130C8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  <p:pic>
        <p:nvPicPr>
          <p:cNvPr id="5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3d2d07da2642a6"/>
          <a:stretch xmlns:a="http://schemas.openxmlformats.org/drawingml/2006/main"/>
        </p:blipFill>
        <p:spPr>
          <a:xfrm xmlns:a="http://schemas.openxmlformats.org/drawingml/2006/main">
            <a:off x="4305300" y="592062"/>
            <a:ext cx="7503509" cy="5210770"/>
          </a:xfrm>
          <a:prstGeom xmlns:a="http://schemas.openxmlformats.org/drawingml/2006/main" prst="roundRect">
            <a:avLst>
              <a:gd name="adj" fmla="val 1360"/>
            </a:avLst>
          </a:prstGeom>
        </p:spPr>
      </p:pic>
    </p:spTree>
    <p:extLst>
      <p:ext uri="{BB962C8B-B14F-4D97-AF65-F5344CB8AC3E}">
        <p14:creationId xmlns:p14="http://schemas.microsoft.com/office/powerpoint/2010/main" val="365731922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F29587C6-818E-614C-4E8F-CD264BB5DD4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E3FE1DBC-074A-B31C-7363-7F3B844437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5549230" cy="6973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2700">
                <a:latin typeface="Inter"/>
                <a:ea typeface="Inter"/>
                <a:cs typeface="Inter"/>
              </a:defRPr>
            </a:pPr>
            <a:r>
              <a:rPr sz="2700">
                <a:latin typeface="Inter"/>
                <a:ea typeface="Inter"/>
                <a:cs typeface="Inter"/>
              </a:rPr>
              <a:t>测试结果</a:t>
            </a:r>
            <a:endParaRPr/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D0871A73-A37A-1E7C-6089-9D4D7E091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2" y="236985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chemeClr val="accent5">
              <a:lumMod val="20000"/>
              <a:lumOff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1C7B8C8B-F20A-31B8-CB9E-D406AEA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47" y="266478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MySQL 联调</a:t>
            </a: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16 项实际 HTTP 冒烟通过，覆盖认证、查询与注销。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506E7539-B6D2-84FE-7719-21D73815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3" y="393700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chemeClr val="accent5">
              <a:lumMod val="20000"/>
              <a:lumOff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B50BFF6E-013F-2CA5-21F9-98283DFC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48" y="688632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Maven 回归</a:t>
            </a: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23 项通过，覆盖权限、统计、历史绑定与围栏状态。</a:t>
            </a:r>
          </a:p>
        </p:txBody>
      </p:sp>
      <p:sp>
        <p:nvSpPr>
          <p:cNvPr id="2" name="Rounded Rectangle 1">
            <a:extLst xmlns:a="http://schemas.openxmlformats.org/drawingml/2006/main">
              <a:ext uri="{FF2B5EF4-FFF2-40B4-BE49-F238E27FC236}">
                <a16:creationId xmlns:a16="http://schemas.microsoft.com/office/drawing/2014/main" id="{C4E18E5B-6405-1268-D0C6-02B9E1F8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2" y="438153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chemeClr val="accent5">
              <a:lumMod val="20000"/>
              <a:lumOff val="8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CF7239E1-4EF6-5723-3651-1149031AE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47" y="4676468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浏览器检查</a:t>
            </a: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12 项通过，检查页面、窄屏与只读入口。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1655C29-3D04-D88C-395C-E6000B5894F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  <p:graphicFrame>
        <p:nvGraphicFramePr>
          <p:cNvPr id="544" name="Chart"/>
          <p:cNvGraphicFramePr/>
          <p:nvPr/>
        </p:nvGraphicFramePr>
        <p:xfrm>
          <a:off xmlns:a="http://schemas.openxmlformats.org/drawingml/2006/main" x="408718" y="1143000"/>
          <a:ext xmlns:a="http://schemas.openxmlformats.org/drawingml/2006/main" cx="5124164" cy="5048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30c966d4e024cc3"/>
          </a:graphicData>
        </a:graphic>
      </p:graphicFrame>
    </p:spTree>
    <p:extLst>
      <p:ext uri="{BB962C8B-B14F-4D97-AF65-F5344CB8AC3E}">
        <p14:creationId xmlns:p14="http://schemas.microsoft.com/office/powerpoint/2010/main" val="314597529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3D601CC-90EA-4B7E-D56D-42EF2FCCAB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 sz="1100"/>
          </a:p>
        </p:txBody>
      </p:sp>
      <p:sp>
        <p:nvSpPr>
          <p:cNvPr id="11" name="Title 10">
            <a:extLst xmlns:a="http://schemas.openxmlformats.org/drawingml/2006/main">
              <a:ext uri="{FF2B5EF4-FFF2-40B4-BE49-F238E27FC236}">
                <a16:creationId xmlns:a16="http://schemas.microsoft.com/office/drawing/2014/main" id="{4AEA3A7D-DBCA-D3E4-FBE6-7DFA3D3F5D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7835900" cy="697392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2700">
                <a:latin typeface="Inter"/>
                <a:ea typeface="Inter"/>
                <a:cs typeface="Inter"/>
              </a:defRPr>
            </a:pPr>
            <a:r>
              <a:rPr sz="2700">
                <a:latin typeface="Inter"/>
                <a:ea typeface="Inter"/>
                <a:cs typeface="Inter"/>
              </a:rPr>
              <a:t>查询性能实测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AD9F0FEC-2745-EA90-4350-ECA013967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1986" y="3360085"/>
            <a:ext cx="2581975" cy="2656541"/>
          </a:xfrm>
          <a:prstGeom xmlns:a="http://schemas.openxmlformats.org/drawingml/2006/main" prst="roundRect">
            <a:avLst>
              <a:gd name="adj" fmla="val 6087"/>
            </a:avLst>
          </a:prstGeom>
          <a:solidFill xmlns:a="http://schemas.openxmlformats.org/drawingml/2006/main">
            <a:schemeClr val="accent5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8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9F2C50E3-28B0-6CBB-D0C2-A884FA6A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9338" y="3579975"/>
            <a:ext cx="2133315" cy="903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540" marR="0" lvl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prstClr val="black"/>
              </a:buClr>
              <a:buSzPts val="1400"/>
              <a:buNone/>
              <a:defRPr sz="4500">
                <a:latin typeface="Inter"/>
                <a:ea typeface="Inter"/>
                <a:cs typeface="Inter"/>
              </a:defRPr>
            </a:pPr>
            <a:r>
              <a:rPr sz="4500" u="none" cap="none" spc="0">
                <a:ln>
                  <a:noFill/>
                </a:ln>
                <a:solidFill>
                  <a:prstClr val="black"/>
                </a:solidFill>
                <a:latin typeface="Inter"/>
                <a:ea typeface="Inter"/>
                <a:cs typeface="Inter"/>
              </a:rPr>
              <a:t>2664</a:t>
            </a:r>
            <a:endParaRPr sz="5000"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9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57309BA0-73E7-AB92-9FFA-3CB6E7D29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5956" y="5068235"/>
            <a:ext cx="2066698" cy="615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本次请求数</a:t>
            </a:r>
            <a:endParaRPr sz="1400"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20 个并发线程</a:t>
            </a:r>
            <a:endParaRPr sz="1400"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0" name="Rounded Rectangle 39">
            <a:extLst xmlns:a="http://schemas.openxmlformats.org/drawingml/2006/main">
              <a:ext uri="{FF2B5EF4-FFF2-40B4-BE49-F238E27FC236}">
                <a16:creationId xmlns:a16="http://schemas.microsoft.com/office/drawing/2014/main" id="{5BFE1F75-4AAC-629D-4488-BAAF31013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4191" y="3360085"/>
            <a:ext cx="2581975" cy="2656541"/>
          </a:xfrm>
          <a:prstGeom xmlns:a="http://schemas.openxmlformats.org/drawingml/2006/main" prst="roundRect">
            <a:avLst>
              <a:gd name="adj" fmla="val 4984"/>
            </a:avLst>
          </a:prstGeom>
          <a:solidFill xmlns:a="http://schemas.openxmlformats.org/drawingml/2006/main">
            <a:schemeClr val="accent5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1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EDD16FA6-BF88-7DA4-7782-F905386C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1543" y="3579975"/>
            <a:ext cx="2133315" cy="903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540" marR="0" lvl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prstClr val="black"/>
              </a:buClr>
              <a:buSzPts val="1400"/>
              <a:buNone/>
              <a:defRPr sz="4500">
                <a:latin typeface="Inter"/>
                <a:ea typeface="Inter"/>
                <a:cs typeface="Inter"/>
              </a:defRPr>
            </a:pPr>
            <a:r>
              <a:rPr sz="4500" u="none" cap="none" spc="0">
                <a:ln>
                  <a:noFill/>
                </a:ln>
                <a:solidFill>
                  <a:prstClr val="black"/>
                </a:solidFill>
                <a:latin typeface="Inter"/>
                <a:ea typeface="Inter"/>
                <a:cs typeface="Inter"/>
              </a:rPr>
              <a:t>0</a:t>
            </a:r>
            <a:endParaRPr sz="5000"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2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6E0E4F2E-E5BA-848F-0BB2-B4A15FA3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161" y="5068235"/>
            <a:ext cx="2066698" cy="615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请求错误数</a:t>
            </a:r>
            <a:endParaRPr sz="1400"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四端点均达标</a:t>
            </a:r>
            <a:endParaRPr sz="1400"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1B313AA-3A24-CBDF-D666-09D42298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100" y="1955554"/>
            <a:ext cx="5539873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101080 条健康记录、100648 条定位记录。</a:t>
            </a: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Font typeface="Arial"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latin typeface="Inter"/>
                <a:ea typeface="Inter"/>
                <a:cs typeface="Inter"/>
              </a:rPr>
              <a:t>持续约 60 秒，四类查询 P95 均低于 2 秒。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A82F118-C6BB-3BC4-35D2-F1406F35370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  <p:graphicFrame>
        <p:nvGraphicFramePr>
          <p:cNvPr id="55" name="Chart"/>
          <p:cNvGraphicFramePr/>
          <p:nvPr/>
        </p:nvGraphicFramePr>
        <p:xfrm>
          <a:off xmlns:a="http://schemas.openxmlformats.org/drawingml/2006/main" x="385858" y="1254728"/>
          <a:ext xmlns:a="http://schemas.openxmlformats.org/drawingml/2006/main" cx="5534216" cy="4953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bb6aa322fc4456b"/>
          </a:graphicData>
        </a:graphic>
      </p:graphicFrame>
    </p:spTree>
    <p:extLst>
      <p:ext uri="{BB962C8B-B14F-4D97-AF65-F5344CB8AC3E}">
        <p14:creationId xmlns:p14="http://schemas.microsoft.com/office/powerpoint/2010/main" val="377680918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40C911A7-2999-5B10-850F-7785C571AE5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5537200" cy="164318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/>
                <a:ea typeface="Inter"/>
                <a:cs typeface="Inter"/>
              </a:rPr>
              <a:t>A 项目经理兼测试</a:t>
            </a:r>
          </a:p>
          <a:p xmlns:a="http://schemas.openxmlformats.org/drawingml/2006/main">
            <a:pPr marL="0" marR="0" lvl="0" indent="0" algn="l" defTabSz="91440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/>
                <a:ea typeface="Inter"/>
                <a:cs typeface="Inter"/>
              </a:rPr>
              <a:t>需求、计划、例会、用例、日志。</a:t>
            </a:r>
          </a:p>
          <a:p xmlns:a="http://schemas.openxmlformats.org/drawingml/2006/main">
            <a:pPr marL="0" marR="0" lvl="0" indent="0" algn="l" defTabSz="91440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/>
                <a:ea typeface="Inter"/>
                <a:cs typeface="Inter"/>
              </a:rPr>
              <a:t>组织验收并汇总答辩。</a:t>
            </a:r>
          </a:p>
        </p:txBody>
      </p:sp>
      <p:sp>
        <p:nvSpPr>
          <p:cNvPr id="2" name="Slide Number Placeholder 1">
            <a:extLst xmlns:a="http://schemas.openxmlformats.org/drawingml/2006/main">
              <a:ext uri="{FF2B5EF4-FFF2-40B4-BE49-F238E27FC236}">
                <a16:creationId xmlns:a16="http://schemas.microsoft.com/office/drawing/2014/main" id="{6B79DB2A-CC47-00B8-FE1C-26473E47EA9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591DE77-626F-6364-307D-6A3CECC3E0AC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6256618" y="2032000"/>
            <a:ext cx="5537200" cy="164318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/>
                <a:ea typeface="Inter"/>
                <a:cs typeface="Inter"/>
              </a:rPr>
              <a:t>B 后端工程师</a:t>
            </a:r>
          </a:p>
          <a:p xmlns:a="http://schemas.openxmlformats.org/drawingml/2006/main">
            <a:pPr marL="0" marR="0" lvl="0" indent="0" algn="l" defTabSz="91440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/>
                <a:ea typeface="Inter"/>
                <a:cs typeface="Inter"/>
              </a:rPr>
              <a:t>认证、档案、健康与随访。</a:t>
            </a:r>
          </a:p>
          <a:p xmlns:a="http://schemas.openxmlformats.org/drawingml/2006/main">
            <a:pPr marL="0" marR="0" lvl="0" indent="0" algn="l" defTabSz="91440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/>
                <a:ea typeface="Inter"/>
                <a:cs typeface="Inter"/>
              </a:rPr>
              <a:t>维护业务测试与接口说明。</a:t>
            </a:r>
          </a:p>
        </p:txBody>
      </p:sp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89BFFB18-4CB5-6BE2-9B1E-49B4101293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7835900" cy="1040292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2700">
                <a:latin typeface="Inter"/>
                <a:ea typeface="Inter"/>
                <a:cs typeface="Inter"/>
              </a:defRPr>
            </a:pPr>
            <a:r>
              <a:rPr sz="2700">
                <a:latin typeface="Inter"/>
                <a:ea typeface="Inter"/>
                <a:cs typeface="Inter"/>
              </a:rPr>
              <a:t>四人分工</a:t>
            </a:r>
          </a:p>
        </p:txBody>
      </p:sp>
      <p:sp>
        <p:nvSpPr>
          <p:cNvPr id="4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5FBFFE27-6CE4-D49E-8371-7F40817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C 后端兼数据工程师</a:t>
            </a: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SQL、设备、围栏与轨迹。</a:t>
            </a:r>
            <a:endParaRPr sz="18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承担性能验证与部署。</a:t>
            </a:r>
            <a:endParaRPr sz="18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D6F50C40-7DBA-55A3-751E-00E97654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D 前端工程师</a:t>
            </a: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Vue 页面、图表和坐标交互。</a:t>
            </a:r>
            <a:endParaRPr sz="18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FontTx/>
              <a:buNone/>
              <a:defRPr sz="1650">
                <a:latin typeface="Inter"/>
                <a:ea typeface="Inter"/>
                <a:cs typeface="Inter"/>
              </a:defRPr>
            </a:pPr>
            <a:r>
              <a:rPr sz="1650">
                <a:solidFill>
                  <a:prstClr val="black"/>
                </a:solidFill>
                <a:latin typeface="Inter"/>
                <a:ea typeface="Inter"/>
                <a:cs typeface="Inter"/>
              </a:rPr>
              <a:t>负责联调、截图与现场演示。</a:t>
            </a:r>
            <a:endParaRPr sz="18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79D819C-33DB-D779-0CC9-74786C7AA64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6014548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0BCC789E-87DC-C416-5298-C7F6E26A953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3822700"/>
            <a:ext cx="2595934" cy="11684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500">
                <a:latin typeface="Inter"/>
                <a:ea typeface="Inter"/>
                <a:cs typeface="Inter"/>
              </a:defRPr>
            </a:pPr>
            <a:r>
              <a:rPr sz="1500">
                <a:latin typeface="Inter"/>
                <a:ea typeface="Inter"/>
                <a:cs typeface="Inter"/>
              </a:rPr>
              <a:t>准备数据库</a:t>
            </a:r>
          </a:p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500">
                <a:latin typeface="Inter"/>
                <a:ea typeface="Inter"/>
                <a:cs typeface="Inter"/>
              </a:defRPr>
            </a:pPr>
            <a:r>
              <a:rPr sz="1500">
                <a:latin typeface="Inter"/>
                <a:ea typeface="Inter"/>
                <a:cs typeface="Inter"/>
              </a:rPr>
              <a:t>专用空库执行建库和建表 SQL，设置应用账号。</a:t>
            </a:r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BBF0163-E4B1-61D1-776D-45470B16F0F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 sz="1100"/>
          </a:p>
        </p:txBody>
      </p:sp>
      <p:sp>
        <p:nvSpPr>
          <p:cNvPr id="11" name="Title 10">
            <a:extLst xmlns:a="http://schemas.openxmlformats.org/drawingml/2006/main">
              <a:ext uri="{FF2B5EF4-FFF2-40B4-BE49-F238E27FC236}">
                <a16:creationId xmlns:a16="http://schemas.microsoft.com/office/drawing/2014/main" id="{9759E2FE-9F02-E1B4-EBBC-AA8624ACC3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7846838" cy="103489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2700">
                <a:latin typeface="Inter"/>
                <a:ea typeface="Inter"/>
                <a:cs typeface="Inter"/>
              </a:defRPr>
            </a:pPr>
            <a:r>
              <a:rPr sz="2700">
                <a:latin typeface="Inter"/>
                <a:ea typeface="Inter"/>
                <a:cs typeface="Inter"/>
              </a:rPr>
              <a:t>部署与团队验收</a:t>
            </a:r>
          </a:p>
        </p:txBody>
      </p:sp>
      <p:sp>
        <p:nvSpPr>
          <p:cNvPr id="17" name="Text Placeholder 16">
            <a:extLst xmlns:a="http://schemas.openxmlformats.org/drawingml/2006/main">
              <a:ext uri="{FF2B5EF4-FFF2-40B4-BE49-F238E27FC236}">
                <a16:creationId xmlns:a16="http://schemas.microsoft.com/office/drawing/2014/main" id="{986AEEE5-7F7B-65AD-1D88-9157CF0514D8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4317119" y="3822700"/>
            <a:ext cx="2595934" cy="11684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  <a:defRPr sz="1500">
                <a:latin typeface="Inter"/>
                <a:ea typeface="Inter"/>
                <a:cs typeface="Inter"/>
              </a:defRPr>
            </a:pPr>
            <a:r>
              <a:rPr sz="1500" b="0" i="0" u="none" cap="none" spc="0">
                <a:ln>
                  <a:noFill/>
                </a:ln>
                <a:solidFill>
                  <a:prstClr val="black"/>
                </a:solidFill>
                <a:latin typeface="Inter"/>
                <a:ea typeface="Inter"/>
                <a:cs typeface="Inter"/>
              </a:rPr>
              <a:t>构建与启动</a:t>
            </a:r>
          </a:p>
          <a:p xmlns:a="http://schemas.openxmlformats.org/drawingml/2006/main">
            <a:pPr marL="0" marR="0" lvl="0" indent="0" algn="l" defTabSz="91440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  <a:defRPr sz="1500">
                <a:latin typeface="Inter"/>
                <a:ea typeface="Inter"/>
                <a:cs typeface="Inter"/>
              </a:defRPr>
            </a:pPr>
            <a:r>
              <a:rPr sz="1500" b="0" i="0" u="none" cap="none" spc="0">
                <a:ln>
                  <a:noFill/>
                </a:ln>
                <a:solidFill>
                  <a:prstClr val="black"/>
                </a:solidFill>
                <a:latin typeface="Inter"/>
                <a:ea typeface="Inter"/>
                <a:cs typeface="Inter"/>
              </a:rPr>
              <a:t>npm 构建前端，Maven 测试打包，以 JAR 同源运行。</a:t>
            </a:r>
          </a:p>
        </p:txBody>
      </p:sp>
      <p:sp>
        <p:nvSpPr>
          <p:cNvPr id="18" name="Content Placeholder 17">
            <a:extLst xmlns:a="http://schemas.openxmlformats.org/drawingml/2006/main">
              <a:ext uri="{FF2B5EF4-FFF2-40B4-BE49-F238E27FC236}">
                <a16:creationId xmlns:a16="http://schemas.microsoft.com/office/drawing/2014/main" id="{B32A8A18-E9FA-02B4-6667-53C019EC43C0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8240538" y="3822700"/>
            <a:ext cx="2595934" cy="11684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  <a:defRPr sz="1500">
                <a:latin typeface="Inter"/>
                <a:ea typeface="Inter"/>
                <a:cs typeface="Inter"/>
              </a:defRPr>
            </a:pPr>
            <a:r>
              <a:rPr sz="1500" b="0" i="0" u="none" cap="none" spc="0">
                <a:ln>
                  <a:noFill/>
                </a:ln>
                <a:solidFill>
                  <a:prstClr val="black"/>
                </a:solidFill>
                <a:latin typeface="Inter"/>
                <a:ea typeface="Inter"/>
                <a:cs typeface="Inter"/>
              </a:rPr>
              <a:t>验证与交付</a:t>
            </a:r>
          </a:p>
          <a:p xmlns:a="http://schemas.openxmlformats.org/drawingml/2006/main">
            <a:pPr marL="0" marR="0" lvl="0" indent="0" algn="l" defTabSz="91440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/>
              <a:buNone/>
              <a:defRPr sz="1500">
                <a:latin typeface="Inter"/>
                <a:ea typeface="Inter"/>
                <a:cs typeface="Inter"/>
              </a:defRPr>
            </a:pPr>
            <a:r>
              <a:rPr sz="1500" b="0" i="0" u="none" cap="none" spc="0">
                <a:ln>
                  <a:noFill/>
                </a:ln>
                <a:solidFill>
                  <a:prstClr val="black"/>
                </a:solidFill>
                <a:latin typeface="Inter"/>
                <a:ea typeface="Inter"/>
                <a:cs typeface="Inter"/>
              </a:rPr>
              <a:t>核对页面、权限和统计，补测团队 IDEA 与 JDK 17。</a:t>
            </a:r>
          </a:p>
        </p:txBody>
      </p:sp>
      <p:cxnSp>
        <p:nvCxnSpPr>
          <p:cNvPr id="24" name="Google Shape;2259;p159"/>
          <p:cNvCxnSpPr>
            <a:stCxn xmlns:a="http://schemas.openxmlformats.org/drawingml/2006/main" id="3" idx="2"/>
          </p:cNvCxnSpPr>
          <p:nvPr/>
        </p:nvCxnSpPr>
        <p:spPr>
          <a:xfrm xmlns:a="http://schemas.openxmlformats.org/drawingml/2006/main">
            <a:off x="337757" y="3373755"/>
            <a:ext cx="11430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Google Shape;2260;p159">
            <a:extLst xmlns:a="http://schemas.openxmlformats.org/drawingml/2006/main">
              <a:ext uri="{FF2B5EF4-FFF2-40B4-BE49-F238E27FC236}">
                <a16:creationId xmlns:a16="http://schemas.microsoft.com/office/drawing/2014/main" id="{39A86B1D-EA5D-3FA6-7D83-8F21D70E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18" y="3320203"/>
            <a:ext cx="107100" cy="107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AI Sans"/>
              <a:ea typeface="OpenAI Sans"/>
              <a:cs typeface="OpenAI Sans"/>
            </a:endParaRPr>
          </a:p>
        </p:txBody>
      </p:sp>
      <p:sp>
        <p:nvSpPr>
          <p:cNvPr id="5" name="Google Shape;2261;p159">
            <a:extLst xmlns:a="http://schemas.openxmlformats.org/drawingml/2006/main">
              <a:ext uri="{FF2B5EF4-FFF2-40B4-BE49-F238E27FC236}">
                <a16:creationId xmlns:a16="http://schemas.microsoft.com/office/drawing/2014/main" id="{A1013DAF-A2C3-BC42-73D5-9D8AB55D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50" y="3320203"/>
            <a:ext cx="107100" cy="107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AI Sans"/>
              <a:ea typeface="OpenAI Sans"/>
              <a:cs typeface="OpenAI Sans"/>
            </a:endParaRPr>
          </a:p>
        </p:txBody>
      </p:sp>
      <p:sp>
        <p:nvSpPr>
          <p:cNvPr id="6" name="Google Shape;2262;p159">
            <a:extLst xmlns:a="http://schemas.openxmlformats.org/drawingml/2006/main">
              <a:ext uri="{FF2B5EF4-FFF2-40B4-BE49-F238E27FC236}">
                <a16:creationId xmlns:a16="http://schemas.microsoft.com/office/drawing/2014/main" id="{4654A74A-2C40-A8C6-E9F9-43C58A3AD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50" y="3320203"/>
            <a:ext cx="107100" cy="107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AI Sans"/>
              <a:ea typeface="OpenAI Sans"/>
              <a:cs typeface="OpenAI Sans"/>
            </a:endParaRPr>
          </a:p>
        </p:txBody>
      </p:sp>
      <p:sp>
        <p:nvSpPr>
          <p:cNvPr id="9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76C75857-E8EA-1B37-0464-3C7048D7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843266"/>
            <a:ext cx="1612900" cy="2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500">
                <a:latin typeface="Inter"/>
                <a:ea typeface="Inter"/>
                <a:cs typeface="Inter"/>
              </a:defRPr>
            </a:pPr>
            <a:r>
              <a:rPr sz="1500">
                <a:latin typeface="Inter"/>
                <a:ea typeface="Inter"/>
                <a:cs typeface="Inter"/>
              </a:rPr>
              <a:t>第一步</a:t>
            </a:r>
          </a:p>
        </p:txBody>
      </p:sp>
      <p:sp>
        <p:nvSpPr>
          <p:cNvPr id="13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76AEECBA-C292-6302-8A8E-7EB14A54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87" y="2843266"/>
            <a:ext cx="1612900" cy="2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500">
                <a:latin typeface="Inter"/>
                <a:ea typeface="Inter"/>
                <a:cs typeface="Inter"/>
              </a:defRPr>
            </a:pPr>
            <a:r>
              <a:rPr sz="1500">
                <a:latin typeface="Inter"/>
                <a:ea typeface="Inter"/>
                <a:cs typeface="Inter"/>
              </a:rPr>
              <a:t>第二步</a:t>
            </a:r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95982BB0-2387-9BAA-9F14-F45500C04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49" y="2843266"/>
            <a:ext cx="1612900" cy="2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500">
                <a:latin typeface="Inter"/>
                <a:ea typeface="Inter"/>
                <a:cs typeface="Inter"/>
              </a:defRPr>
            </a:pPr>
            <a:r>
              <a:rPr sz="1500">
                <a:latin typeface="Inter"/>
                <a:ea typeface="Inter"/>
                <a:cs typeface="Inter"/>
              </a:rPr>
              <a:t>第三步</a:t>
            </a:r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3AC3A10F-8642-8154-9AEA-7110D289C62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446338916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A6A4A8C5-2601-85AD-3D1E-8079D58F035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26339" y="449662"/>
            <a:ext cx="6730425" cy="2401447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4650">
                <a:latin typeface="Inter"/>
                <a:ea typeface="Inter"/>
                <a:cs typeface="Inter"/>
              </a:defRPr>
            </a:pPr>
            <a:r>
              <a:rPr sz="4650">
                <a:solidFill>
                  <a:schemeClr val="accent6">
                    <a:lumMod val="75000"/>
                  </a:schemeClr>
                </a:solidFill>
                <a:latin typeface="Inter"/>
                <a:ea typeface="Inter"/>
                <a:cs typeface="Inter"/>
              </a:rPr>
              <a:t>项目演示与交流</a:t>
            </a:r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0268A511-4B27-6E46-7765-2247D8E6C20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42669" y="3564938"/>
            <a:ext cx="3758374" cy="61467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00">
                <a:latin typeface="Inter"/>
                <a:ea typeface="Inter"/>
                <a:cs typeface="Inter"/>
              </a:defRPr>
            </a:pPr>
            <a:r>
              <a:rPr sz="1800">
                <a:latin typeface="Inter"/>
                <a:ea typeface="Inter"/>
                <a:cs typeface="Inter"/>
              </a:rPr>
              <a:t>八项业务功能已实现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00">
                <a:latin typeface="Inter"/>
                <a:ea typeface="Inter"/>
                <a:cs typeface="Inter"/>
              </a:defRPr>
            </a:pPr>
            <a:r>
              <a:rPr sz="1800">
                <a:latin typeface="Inter"/>
                <a:ea typeface="Inter"/>
                <a:cs typeface="Inter"/>
              </a:rPr>
              <a:t>团队环境与人工验收继续复核</a:t>
            </a:r>
          </a:p>
        </p:txBody>
      </p:sp>
      <p:pic>
        <p:nvPicPr>
          <p:cNvPr id="10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17a14dc6eb4f98"/>
          <a:srcRect xmlns:a="http://schemas.openxmlformats.org/drawingml/2006/main" l="0" t="25645" r="0" b="614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4763386"/>
            <a:ext cx="12192000" cy="209461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949709"/>
      </p:ext>
    </p:extLst>
  </p:cSld>
</p:sld>
</file>

<file path=ppt/theme/theme1.xml><?xml version="1.0" encoding="utf-8"?>
<a:theme xmlns:a="http://schemas.openxmlformats.org/drawingml/2006/main" name="Default Codex Theme">
  <a:themeElements>
    <a:clrScheme name="Color Block Theme">
      <a:dk1>
        <a:srgbClr val="000000"/>
      </a:dk1>
      <a:lt1>
        <a:srgbClr val="FFFFFF"/>
      </a:lt1>
      <a:dk2>
        <a:srgbClr val="393939"/>
      </a:dk2>
      <a:lt2>
        <a:srgbClr val="F5F5F5"/>
      </a:lt2>
      <a:accent1>
        <a:srgbClr val="2ED978"/>
      </a:accent1>
      <a:accent2>
        <a:srgbClr val="9FB6FE"/>
      </a:accent2>
      <a:accent3>
        <a:srgbClr val="F3F161"/>
      </a:accent3>
      <a:accent4>
        <a:srgbClr val="FF5F27"/>
      </a:accent4>
      <a:accent5>
        <a:srgbClr val="5EC4FF"/>
      </a:accent5>
      <a:accent6>
        <a:srgbClr val="3C7DA3"/>
      </a:accent6>
      <a:hlink>
        <a:srgbClr val="FFA83A"/>
      </a:hlink>
      <a:folHlink>
        <a:srgbClr val="96607D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olor Block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2026-09-08T01:25:52.0970000Z</dcterms:created>
  <dcterms:modified xsi:type="dcterms:W3CDTF">2026-09-08T01:25:52.0970000Z</dcterms:modified>
</coreProperties>
</file>